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40"/>
  </p:notesMasterIdLst>
  <p:handoutMasterIdLst>
    <p:handoutMasterId r:id="rId41"/>
  </p:handoutMasterIdLst>
  <p:sldIdLst>
    <p:sldId id="257" r:id="rId5"/>
    <p:sldId id="268" r:id="rId6"/>
    <p:sldId id="267" r:id="rId7"/>
    <p:sldId id="272" r:id="rId8"/>
    <p:sldId id="273" r:id="rId9"/>
    <p:sldId id="274" r:id="rId10"/>
    <p:sldId id="275" r:id="rId11"/>
    <p:sldId id="276" r:id="rId12"/>
    <p:sldId id="277" r:id="rId13"/>
    <p:sldId id="284" r:id="rId14"/>
    <p:sldId id="278" r:id="rId15"/>
    <p:sldId id="279" r:id="rId16"/>
    <p:sldId id="280" r:id="rId17"/>
    <p:sldId id="281" r:id="rId18"/>
    <p:sldId id="282" r:id="rId19"/>
    <p:sldId id="283" r:id="rId20"/>
    <p:sldId id="285" r:id="rId21"/>
    <p:sldId id="286" r:id="rId22"/>
    <p:sldId id="287" r:id="rId23"/>
    <p:sldId id="288" r:id="rId24"/>
    <p:sldId id="289" r:id="rId25"/>
    <p:sldId id="290" r:id="rId26"/>
    <p:sldId id="291" r:id="rId27"/>
    <p:sldId id="292" r:id="rId28"/>
    <p:sldId id="293" r:id="rId29"/>
    <p:sldId id="294" r:id="rId30"/>
    <p:sldId id="295" r:id="rId31"/>
    <p:sldId id="299" r:id="rId32"/>
    <p:sldId id="300" r:id="rId33"/>
    <p:sldId id="296" r:id="rId34"/>
    <p:sldId id="297" r:id="rId35"/>
    <p:sldId id="301" r:id="rId36"/>
    <p:sldId id="302" r:id="rId37"/>
    <p:sldId id="298" r:id="rId38"/>
    <p:sldId id="303" r:id="rId39"/>
  </p:sldIdLst>
  <p:sldSz cx="12188825" cy="6858000"/>
  <p:notesSz cx="6858000" cy="9144000"/>
  <p:defaultTextStyle>
    <a:defPPr rtl="0">
      <a:defRPr lang="pt-br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EBB88A-975B-4819-A42C-FAC39BCF6786}" v="1" dt="2025-12-04T15:48:47.0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73" autoAdjust="0"/>
    <p:restoredTop sz="94660"/>
  </p:normalViewPr>
  <p:slideViewPr>
    <p:cSldViewPr>
      <p:cViewPr varScale="1">
        <p:scale>
          <a:sx n="102" d="100"/>
          <a:sy n="102" d="100"/>
        </p:scale>
        <p:origin x="1116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microsoft.com/office/2015/10/relationships/revisionInfo" Target="revisionInfo.xml"/><Relationship Id="rId20" Type="http://schemas.openxmlformats.org/officeDocument/2006/relationships/slide" Target="slides/slide16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fld id="{79429053-DC2A-4342-ADD4-2FD729D91E2C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t>Clique para editar o texto Mestre</a:t>
            </a:r>
          </a:p>
          <a:p>
            <a:pPr lvl="1" rtl="0"/>
            <a:r>
              <a:t>Segundo nível</a:t>
            </a:r>
          </a:p>
          <a:p>
            <a:pPr lvl="2" rtl="0"/>
            <a:r>
              <a:t>Terceiro nível</a:t>
            </a:r>
          </a:p>
          <a:p>
            <a:pPr lvl="3" rtl="0"/>
            <a:r>
              <a:t>Quarto nível</a:t>
            </a:r>
          </a:p>
          <a:p>
            <a:pPr lvl="4" rtl="0"/>
            <a:r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fld id="{3EBA5BD7-F043-4D1B-AA17-CD412FC534DE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i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Conector Reto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Conector Reto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Conector Reto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linhas inferior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orma Livre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/>
            </a:p>
          </p:txBody>
        </p:sp>
        <p:sp>
          <p:nvSpPr>
            <p:cNvPr id="10" name="Forma Livre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/>
            </a:p>
          </p:txBody>
        </p:sp>
        <p:sp>
          <p:nvSpPr>
            <p:cNvPr id="11" name="Forma Livre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/>
            </a:p>
          </p:txBody>
        </p:sp>
      </p:grp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 rtlCol="0">
            <a:normAutofit/>
          </a:bodyPr>
          <a:lstStyle>
            <a:lvl1pPr algn="l" rtl="0">
              <a:defRPr sz="5400"/>
            </a:lvl1pPr>
          </a:lstStyle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22" name="Espaço Reservado para Data 2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23" name="Espaço Reservado para Rodapé 2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24" name="Espaço Reservado para o Número do Slide 2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i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Conector Reto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Conector Reto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Conector Reto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rtlCol="0" anchor="b">
            <a:normAutofit/>
          </a:bodyPr>
          <a:lstStyle>
            <a:lvl1pPr algn="l" rtl="0">
              <a:defRPr sz="5400" b="0" cap="none" baseline="0"/>
            </a:lvl1pPr>
          </a:lstStyle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rtlCol="0" anchor="t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l" rtl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/>
            </a:lvl8pPr>
            <a:lvl9pPr algn="l" rtl="0">
              <a:defRPr sz="200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l" rtl="0">
              <a:defRPr/>
            </a:lvl1pPr>
          </a:lstStyle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 rtlCol="0">
            <a:no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 baseline="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 rtlCol="0">
            <a:no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 baseline="0"/>
            </a:lvl6pPr>
            <a:lvl7pPr algn="l" rtl="0">
              <a:defRPr sz="2000" baseline="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 rtl="0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0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 rtl="0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0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3" name="Espaço Reservado para Imagem 2" descr="Um espaço reservado vazio para adicionar uma imagem. Clique no espaço reservado e selecione a imagem que você deseja adicionar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 rtlCol="0">
            <a:normAutofit/>
          </a:bodyPr>
          <a:lstStyle>
            <a:lvl1pPr marL="0" indent="0" algn="l" rtl="0">
              <a:buNone/>
              <a:defRPr sz="2800"/>
            </a:lvl1pPr>
            <a:lvl2pPr marL="609493" indent="0" algn="l" rtl="0">
              <a:buNone/>
              <a:defRPr sz="3700"/>
            </a:lvl2pPr>
            <a:lvl3pPr marL="1218987" indent="0" algn="l" rtl="0">
              <a:buNone/>
              <a:defRPr sz="3200"/>
            </a:lvl3pPr>
            <a:lvl4pPr marL="1828480" indent="0" algn="l" rtl="0">
              <a:buNone/>
              <a:defRPr sz="2700"/>
            </a:lvl4pPr>
            <a:lvl5pPr marL="2437973" indent="0" algn="l" rtl="0">
              <a:buNone/>
              <a:defRPr sz="2700"/>
            </a:lvl5pPr>
            <a:lvl6pPr marL="3047467" indent="0" algn="l" rtl="0">
              <a:buNone/>
              <a:defRPr sz="2700"/>
            </a:lvl6pPr>
            <a:lvl7pPr marL="3656960" indent="0" algn="l" rtl="0">
              <a:buNone/>
              <a:defRPr sz="2700"/>
            </a:lvl7pPr>
            <a:lvl8pPr marL="4266453" indent="0" algn="l" rtl="0">
              <a:buNone/>
              <a:defRPr sz="2700"/>
            </a:lvl8pPr>
            <a:lvl9pPr marL="4875947" indent="0" algn="l" rtl="0">
              <a:buNone/>
              <a:defRPr sz="2700"/>
            </a:lvl9pPr>
          </a:lstStyle>
          <a:p>
            <a:pPr rtl="0"/>
            <a:r>
              <a:rPr lang="pt-BR"/>
              <a:t>Clique no ícone para adicionar uma imagem</a:t>
            </a:r>
            <a:endParaRPr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 baseline="0"/>
            </a:lvl8pPr>
            <a:lvl9pPr algn="l" rtl="0">
              <a:defRPr baseline="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 rtlCol="0"/>
          <a:lstStyle/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inhas à esquerda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orma Livre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/>
            </a:p>
          </p:txBody>
        </p:sp>
        <p:sp>
          <p:nvSpPr>
            <p:cNvPr id="11" name="Forma Livre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/>
            </a:p>
          </p:txBody>
        </p:sp>
        <p:sp>
          <p:nvSpPr>
            <p:cNvPr id="14" name="Forma Livre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/>
            </a:p>
          </p:txBody>
        </p:sp>
      </p:grp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pPr rtl="0"/>
            <a:r>
              <a:rPr lang="pt-br"/>
              <a:t>Clique para editar o estilo de título Mestre</a:t>
            </a:r>
            <a:endParaRPr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 rtl="0"/>
            <a:r>
              <a:rPr lang="pt-br"/>
              <a:t>Editar estilos de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C014DD1E-5D91-48A3-AD6D-45FBA980D106}" type="slidenum">
              <a:rPr/>
              <a:pPr rtl="0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ev-RMV/Clube_Algoritmo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09836" y="1780802"/>
            <a:ext cx="11089232" cy="2000251"/>
          </a:xfrm>
        </p:spPr>
        <p:txBody>
          <a:bodyPr rtlCol="0">
            <a:normAutofit fontScale="90000"/>
          </a:bodyPr>
          <a:lstStyle/>
          <a:p>
            <a:pPr algn="ctr" rtl="0"/>
            <a:r>
              <a:rPr lang="pt-br" dirty="0"/>
              <a:t>Clube de Algoritmos</a:t>
            </a:r>
            <a:br>
              <a:rPr lang="pt-br" dirty="0"/>
            </a:br>
            <a:br>
              <a:rPr lang="pt-br" dirty="0"/>
            </a:br>
            <a:r>
              <a:rPr lang="pt-BR" dirty="0"/>
              <a:t>Uma análise de vários </a:t>
            </a:r>
            <a:r>
              <a:rPr lang="pt-BR" dirty="0" err="1"/>
              <a:t>datasets</a:t>
            </a:r>
            <a:r>
              <a:rPr lang="pt-BR" dirty="0"/>
              <a:t> com SVM e Random Forest, com Feature </a:t>
            </a:r>
            <a:r>
              <a:rPr lang="pt-BR" dirty="0" err="1"/>
              <a:t>Engineering</a:t>
            </a:r>
            <a:r>
              <a:rPr lang="pt-BR" dirty="0"/>
              <a:t> usando </a:t>
            </a:r>
            <a:r>
              <a:rPr lang="pt-BR" dirty="0" err="1"/>
              <a:t>Kmeans</a:t>
            </a:r>
            <a:endParaRPr lang="pt-br" dirty="0"/>
          </a:p>
        </p:txBody>
      </p:sp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>
          <a:xfrm>
            <a:off x="765820" y="4725144"/>
            <a:ext cx="8735325" cy="1752600"/>
          </a:xfrm>
        </p:spPr>
        <p:txBody>
          <a:bodyPr rtlCol="0"/>
          <a:lstStyle/>
          <a:p>
            <a:pPr rtl="0"/>
            <a:r>
              <a:rPr lang="pt-br" dirty="0"/>
              <a:t>ALUNO: </a:t>
            </a:r>
            <a:r>
              <a:rPr lang="pt-br" dirty="0" err="1"/>
              <a:t>roDRIGO</a:t>
            </a:r>
            <a:r>
              <a:rPr lang="pt-br" dirty="0"/>
              <a:t> DAS MERCÊS VIANNA</a:t>
            </a:r>
          </a:p>
          <a:p>
            <a:pPr rtl="0"/>
            <a:endParaRPr lang="pt-BR" dirty="0"/>
          </a:p>
          <a:p>
            <a:pPr rtl="0"/>
            <a:r>
              <a:rPr lang="pt-BR" dirty="0"/>
              <a:t>ENGENHARIA DE COMPUTAÇÃO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Objetivo do trabalho e metodologia empregada</a:t>
            </a:r>
            <a:endParaRPr lang="en-US" dirty="0"/>
          </a:p>
        </p:txBody>
      </p:sp>
      <p:sp>
        <p:nvSpPr>
          <p:cNvPr id="14" name="Espaço Reservado para Conteúdo 13"/>
          <p:cNvSpPr>
            <a:spLocks noGrp="1"/>
          </p:cNvSpPr>
          <p:nvPr>
            <p:ph idx="1"/>
          </p:nvPr>
        </p:nvSpPr>
        <p:spPr/>
        <p:txBody>
          <a:bodyPr rtlCol="0">
            <a:normAutofit fontScale="77500" lnSpcReduction="20000"/>
          </a:bodyPr>
          <a:lstStyle/>
          <a:p>
            <a:pPr rtl="0"/>
            <a:r>
              <a:rPr lang="pt-br" dirty="0"/>
              <a:t>O objetivo é construir classificadores para os </a:t>
            </a:r>
            <a:r>
              <a:rPr lang="pt-br" dirty="0" err="1"/>
              <a:t>Datasets</a:t>
            </a:r>
            <a:r>
              <a:rPr lang="pt-br" dirty="0"/>
              <a:t>: “Íris”, ”</a:t>
            </a:r>
            <a:r>
              <a:rPr lang="pt-br" dirty="0" err="1"/>
              <a:t>Digits</a:t>
            </a:r>
            <a:r>
              <a:rPr lang="pt-br" dirty="0"/>
              <a:t>” , “</a:t>
            </a:r>
            <a:r>
              <a:rPr lang="pt-br" dirty="0" err="1"/>
              <a:t>Wine</a:t>
            </a:r>
            <a:r>
              <a:rPr lang="pt-br" dirty="0"/>
              <a:t>” e “</a:t>
            </a:r>
            <a:r>
              <a:rPr lang="pt-br" dirty="0" err="1"/>
              <a:t>Breast</a:t>
            </a:r>
            <a:r>
              <a:rPr lang="pt-br" dirty="0"/>
              <a:t> </a:t>
            </a:r>
            <a:r>
              <a:rPr lang="pt-br" dirty="0" err="1"/>
              <a:t>Cancer</a:t>
            </a:r>
            <a:r>
              <a:rPr lang="pt-br" dirty="0"/>
              <a:t>”. Usaremos o </a:t>
            </a:r>
            <a:r>
              <a:rPr lang="pt-br" dirty="0" err="1"/>
              <a:t>StandardScaler</a:t>
            </a:r>
            <a:r>
              <a:rPr lang="pt-br" dirty="0"/>
              <a:t> nestes </a:t>
            </a:r>
            <a:r>
              <a:rPr lang="pt-br" dirty="0" err="1"/>
              <a:t>Datasets</a:t>
            </a:r>
            <a:r>
              <a:rPr lang="pt-br" dirty="0"/>
              <a:t> para evitar problemas relacionados a diferença de escalas, e dividiremos os </a:t>
            </a:r>
            <a:r>
              <a:rPr lang="pt-br" dirty="0" err="1"/>
              <a:t>datasets</a:t>
            </a:r>
            <a:r>
              <a:rPr lang="pt-br" dirty="0"/>
              <a:t> em treino-teste (70-30).</a:t>
            </a:r>
          </a:p>
          <a:p>
            <a:pPr rtl="0"/>
            <a:r>
              <a:rPr lang="pt-br" dirty="0"/>
              <a:t>Os classificadores serão SVM e Random Forest, buscando os melhores parâmetros para cada caso com </a:t>
            </a:r>
            <a:r>
              <a:rPr lang="pt-br" dirty="0" err="1"/>
              <a:t>GridSearch</a:t>
            </a:r>
            <a:r>
              <a:rPr lang="pt-br" dirty="0"/>
              <a:t> usando 5 </a:t>
            </a:r>
            <a:r>
              <a:rPr lang="pt-br" dirty="0" err="1"/>
              <a:t>folds</a:t>
            </a:r>
            <a:r>
              <a:rPr lang="pt-br" dirty="0"/>
              <a:t> para a </a:t>
            </a:r>
            <a:r>
              <a:rPr lang="pt-br" dirty="0" err="1"/>
              <a:t>cross</a:t>
            </a:r>
            <a:r>
              <a:rPr lang="pt-br" dirty="0"/>
              <a:t> </a:t>
            </a:r>
            <a:r>
              <a:rPr lang="pt-br" dirty="0" err="1"/>
              <a:t>validation</a:t>
            </a:r>
            <a:r>
              <a:rPr lang="pt-br" dirty="0"/>
              <a:t>.</a:t>
            </a:r>
          </a:p>
          <a:p>
            <a:pPr rtl="0"/>
            <a:r>
              <a:rPr lang="pt-br" dirty="0"/>
              <a:t>Será usado o processo de clusterização com </a:t>
            </a:r>
            <a:r>
              <a:rPr lang="pt-br" dirty="0" err="1"/>
              <a:t>Kmeans</a:t>
            </a:r>
            <a:r>
              <a:rPr lang="pt-br" dirty="0"/>
              <a:t> para elaboração de informação extra a ser passada para os modelos (distância de uma instância ao cluster mais próximo), na esperança de melhorar sua performance. A escolha do número de clusters será feita inicialmente em uma comparação gráfica entre o método do “cotovelo” e índice Silhueta, e posteriormente com uma avaliação do comportamento desta escolha.</a:t>
            </a:r>
          </a:p>
          <a:p>
            <a:pPr rtl="0"/>
            <a:r>
              <a:rPr lang="pt-BR" dirty="0"/>
              <a:t>Concluiremos com uma análise comparativa entre os dois classificadores, e se o processo de clusterização surtiu o efeito desejado.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/>
          <p:cNvSpPr>
            <a:spLocks noGrp="1"/>
          </p:cNvSpPr>
          <p:nvPr>
            <p:ph type="title"/>
          </p:nvPr>
        </p:nvSpPr>
        <p:spPr>
          <a:xfrm>
            <a:off x="1053852" y="116632"/>
            <a:ext cx="10297144" cy="647899"/>
          </a:xfrm>
        </p:spPr>
        <p:txBody>
          <a:bodyPr rtlCol="0"/>
          <a:lstStyle/>
          <a:p>
            <a:pPr algn="ctr" rtl="0"/>
            <a:r>
              <a:rPr lang="pt-br" dirty="0"/>
              <a:t>Íris </a:t>
            </a:r>
            <a:r>
              <a:rPr lang="pt-br" dirty="0" err="1"/>
              <a:t>Dataset</a:t>
            </a:r>
            <a:r>
              <a:rPr lang="pt-br" dirty="0"/>
              <a:t> - Clusterização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E232B6B-72BD-33A9-F948-FEB15E1C1E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36" y="908720"/>
            <a:ext cx="5563376" cy="4277322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DED95613-F5EE-BC89-951A-FA60CC3948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034" y="921420"/>
            <a:ext cx="5468113" cy="4286848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8C5BE6F7-F07A-232F-C3DC-FBB39F6EB23E}"/>
              </a:ext>
            </a:extLst>
          </p:cNvPr>
          <p:cNvSpPr txBox="1"/>
          <p:nvPr/>
        </p:nvSpPr>
        <p:spPr>
          <a:xfrm>
            <a:off x="909836" y="5330231"/>
            <a:ext cx="1104131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Tomaremos K=3 por ter “bom” score silhueta. O fato de saber que só existem 3 itens no target também influenciou, já que essas classes devem estar bem delimitadas por 3 clusters.</a:t>
            </a:r>
          </a:p>
        </p:txBody>
      </p:sp>
    </p:spTree>
    <p:extLst>
      <p:ext uri="{BB962C8B-B14F-4D97-AF65-F5344CB8AC3E}">
        <p14:creationId xmlns:p14="http://schemas.microsoft.com/office/powerpoint/2010/main" val="1484811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EC940-034B-97BD-7BE5-204C27863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A769028D-2BE6-7963-B8E2-B6428E066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852" y="116632"/>
            <a:ext cx="10297144" cy="647899"/>
          </a:xfrm>
        </p:spPr>
        <p:txBody>
          <a:bodyPr rtlCol="0">
            <a:normAutofit fontScale="90000"/>
          </a:bodyPr>
          <a:lstStyle/>
          <a:p>
            <a:pPr algn="ctr" rtl="0"/>
            <a:r>
              <a:rPr lang="pt-br" dirty="0"/>
              <a:t>Íris </a:t>
            </a:r>
            <a:r>
              <a:rPr lang="pt-br" dirty="0" err="1"/>
              <a:t>Dataset</a:t>
            </a:r>
            <a:r>
              <a:rPr lang="pt-br" dirty="0"/>
              <a:t> </a:t>
            </a:r>
            <a:r>
              <a:rPr lang="pt-BR" dirty="0"/>
              <a:t>–</a:t>
            </a:r>
            <a:r>
              <a:rPr lang="pt-br" dirty="0"/>
              <a:t> Resultado do </a:t>
            </a:r>
            <a:r>
              <a:rPr lang="pt-br" dirty="0" err="1"/>
              <a:t>GridSearch</a:t>
            </a:r>
            <a:r>
              <a:rPr lang="pt-br" dirty="0"/>
              <a:t> (</a:t>
            </a:r>
            <a:r>
              <a:rPr lang="pt-br" dirty="0" err="1"/>
              <a:t>Scoring</a:t>
            </a:r>
            <a:r>
              <a:rPr lang="pt-br" dirty="0"/>
              <a:t>= f1_macro)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C1E7C3D-08E0-CAB6-694B-6A59C1CB0429}"/>
              </a:ext>
            </a:extLst>
          </p:cNvPr>
          <p:cNvSpPr txBox="1"/>
          <p:nvPr/>
        </p:nvSpPr>
        <p:spPr>
          <a:xfrm>
            <a:off x="909837" y="1124744"/>
            <a:ext cx="1116124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Cross </a:t>
            </a:r>
            <a:r>
              <a:rPr lang="pt-BR" sz="2800" dirty="0" err="1"/>
              <a:t>Validation</a:t>
            </a:r>
            <a:r>
              <a:rPr lang="pt-BR" sz="2800" dirty="0"/>
              <a:t> com 5 </a:t>
            </a:r>
            <a:r>
              <a:rPr lang="pt-BR" sz="2800" dirty="0" err="1"/>
              <a:t>folds</a:t>
            </a:r>
            <a:r>
              <a:rPr lang="pt-BR" sz="2800" dirty="0"/>
              <a:t> (cv=5)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Parâmetros para o SVM</a:t>
            </a:r>
          </a:p>
          <a:p>
            <a:pPr marL="1066693" lvl="1" indent="-457200">
              <a:buFont typeface="Arial" panose="020B0604020202020204" pitchFamily="34" charset="0"/>
              <a:buChar char="•"/>
            </a:pPr>
            <a:r>
              <a:rPr lang="pt-BR" sz="2800" dirty="0"/>
              <a:t>Com a feature extra: C=0.825, kernel linear</a:t>
            </a:r>
          </a:p>
          <a:p>
            <a:pPr marL="1066693" lvl="1" indent="-457200">
              <a:buFont typeface="Arial" panose="020B0604020202020204" pitchFamily="34" charset="0"/>
              <a:buChar char="•"/>
            </a:pPr>
            <a:r>
              <a:rPr lang="pt-BR" sz="2800" dirty="0"/>
              <a:t>Sem a feature extra: Resultado idêntico</a:t>
            </a:r>
          </a:p>
          <a:p>
            <a:pPr marL="1066693" lvl="1" indent="-457200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1066693" lvl="1" indent="-457200">
              <a:buFont typeface="Arial" panose="020B0604020202020204" pitchFamily="34" charset="0"/>
              <a:buChar char="•"/>
            </a:pPr>
            <a:endParaRPr lang="pt-BR" sz="28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46AD9F6-93A1-402F-9011-FA449EF7A192}"/>
              </a:ext>
            </a:extLst>
          </p:cNvPr>
          <p:cNvSpPr txBox="1"/>
          <p:nvPr/>
        </p:nvSpPr>
        <p:spPr>
          <a:xfrm>
            <a:off x="895844" y="2852936"/>
            <a:ext cx="1116124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Parâmetros para a Random Forest</a:t>
            </a:r>
          </a:p>
          <a:p>
            <a:pPr marL="1066693" lvl="1" indent="-457200">
              <a:buFont typeface="Arial" panose="020B0604020202020204" pitchFamily="34" charset="0"/>
              <a:buChar char="•"/>
            </a:pPr>
            <a:r>
              <a:rPr lang="pt-BR" sz="2800" dirty="0"/>
              <a:t>Com a feature extra: </a:t>
            </a:r>
            <a:r>
              <a:rPr lang="pt-BR" sz="2800" dirty="0" err="1"/>
              <a:t>Criterion</a:t>
            </a:r>
            <a:r>
              <a:rPr lang="pt-BR" sz="2800" dirty="0"/>
              <a:t>=“</a:t>
            </a:r>
            <a:r>
              <a:rPr lang="pt-BR" sz="2800" dirty="0" err="1"/>
              <a:t>gini</a:t>
            </a:r>
            <a:r>
              <a:rPr lang="pt-BR" sz="2800" dirty="0"/>
              <a:t>”, Profundidade=6</a:t>
            </a:r>
          </a:p>
          <a:p>
            <a:pPr marL="1066693" lvl="1" indent="-457200">
              <a:buFont typeface="Arial" panose="020B0604020202020204" pitchFamily="34" charset="0"/>
              <a:buChar char="•"/>
            </a:pPr>
            <a:r>
              <a:rPr lang="pt-BR" sz="2800" dirty="0"/>
              <a:t>Sem a feature extra: </a:t>
            </a:r>
            <a:r>
              <a:rPr lang="pt-BR" sz="2800" dirty="0" err="1"/>
              <a:t>Criterion</a:t>
            </a:r>
            <a:r>
              <a:rPr lang="pt-BR" sz="2800" dirty="0"/>
              <a:t>=“</a:t>
            </a:r>
            <a:r>
              <a:rPr lang="pt-BR" sz="2800" dirty="0" err="1"/>
              <a:t>gini</a:t>
            </a:r>
            <a:r>
              <a:rPr lang="pt-BR" sz="2800" dirty="0"/>
              <a:t>”, Profundidade=5</a:t>
            </a:r>
          </a:p>
          <a:p>
            <a:pPr marL="1066693" lvl="1" indent="-457200">
              <a:buFont typeface="Arial" panose="020B0604020202020204" pitchFamily="34" charset="0"/>
              <a:buChar char="•"/>
            </a:pP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3724304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BC8D3-4A4A-2E09-AD5F-D78AE29BE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76586491-F2FC-D66E-AD47-2AABC1470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852" y="116632"/>
            <a:ext cx="10297144" cy="647899"/>
          </a:xfrm>
        </p:spPr>
        <p:txBody>
          <a:bodyPr rtlCol="0"/>
          <a:lstStyle/>
          <a:p>
            <a:pPr algn="ctr" rtl="0"/>
            <a:r>
              <a:rPr lang="pt-br" dirty="0"/>
              <a:t>Íris </a:t>
            </a:r>
            <a:r>
              <a:rPr lang="pt-br" dirty="0" err="1"/>
              <a:t>Dataset</a:t>
            </a:r>
            <a:r>
              <a:rPr lang="pt-br" dirty="0"/>
              <a:t> </a:t>
            </a:r>
            <a:r>
              <a:rPr lang="pt-BR" dirty="0"/>
              <a:t>–</a:t>
            </a:r>
            <a:r>
              <a:rPr lang="pt-br" dirty="0"/>
              <a:t> SVM: </a:t>
            </a:r>
            <a:r>
              <a:rPr lang="pt-br" dirty="0" err="1"/>
              <a:t>Classification</a:t>
            </a:r>
            <a:r>
              <a:rPr lang="pt-br" dirty="0"/>
              <a:t> </a:t>
            </a:r>
            <a:r>
              <a:rPr lang="pt-br" dirty="0" err="1"/>
              <a:t>report</a:t>
            </a:r>
            <a:endParaRPr lang="pt-br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82BFFBC-B3E5-FFC0-3835-C6A1508705C8}"/>
              </a:ext>
            </a:extLst>
          </p:cNvPr>
          <p:cNvSpPr txBox="1"/>
          <p:nvPr/>
        </p:nvSpPr>
        <p:spPr>
          <a:xfrm>
            <a:off x="909836" y="5330231"/>
            <a:ext cx="11041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Inserir as features extras falhou em produzir um resultado diferente.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E9B622B-E715-1FAB-9CB4-AB2C874347D7}"/>
              </a:ext>
            </a:extLst>
          </p:cNvPr>
          <p:cNvSpPr txBox="1"/>
          <p:nvPr/>
        </p:nvSpPr>
        <p:spPr>
          <a:xfrm>
            <a:off x="1773932" y="1017147"/>
            <a:ext cx="40084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Com features extras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824C816-3F11-AFC0-5B7D-D6E2AA0B4C54}"/>
              </a:ext>
            </a:extLst>
          </p:cNvPr>
          <p:cNvSpPr txBox="1"/>
          <p:nvPr/>
        </p:nvSpPr>
        <p:spPr>
          <a:xfrm>
            <a:off x="7462564" y="956635"/>
            <a:ext cx="40084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Sem feature extra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FF05CE1-6B96-773B-288F-BC11103766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5078" y="1585642"/>
            <a:ext cx="5175973" cy="2923478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EF3D6B09-B1F8-8565-5009-908E8C0733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042" y="1585642"/>
            <a:ext cx="4748378" cy="2923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241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BCE81-F2F8-1BEE-FC99-CC1FFB728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340512CD-C28B-A2DC-07C5-E60F2E614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852" y="116632"/>
            <a:ext cx="10297144" cy="647899"/>
          </a:xfrm>
        </p:spPr>
        <p:txBody>
          <a:bodyPr rtlCol="0"/>
          <a:lstStyle/>
          <a:p>
            <a:pPr algn="ctr" rtl="0"/>
            <a:r>
              <a:rPr lang="pt-br" dirty="0"/>
              <a:t>Íris </a:t>
            </a:r>
            <a:r>
              <a:rPr lang="pt-br" dirty="0" err="1"/>
              <a:t>Dataset</a:t>
            </a:r>
            <a:r>
              <a:rPr lang="pt-br" dirty="0"/>
              <a:t> </a:t>
            </a:r>
            <a:r>
              <a:rPr lang="pt-BR" dirty="0"/>
              <a:t>–</a:t>
            </a:r>
            <a:r>
              <a:rPr lang="pt-br" dirty="0"/>
              <a:t> SVM: Matriz de Confusão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8D71E8B-0C7B-8BB8-11CC-83737002036F}"/>
              </a:ext>
            </a:extLst>
          </p:cNvPr>
          <p:cNvSpPr txBox="1"/>
          <p:nvPr/>
        </p:nvSpPr>
        <p:spPr>
          <a:xfrm>
            <a:off x="1147514" y="6218148"/>
            <a:ext cx="11041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Inserir a feature extra falhou em produzir um resultado diferente.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62C7050-3DE1-0CA9-178A-2ABB34567C1B}"/>
              </a:ext>
            </a:extLst>
          </p:cNvPr>
          <p:cNvSpPr txBox="1"/>
          <p:nvPr/>
        </p:nvSpPr>
        <p:spPr>
          <a:xfrm>
            <a:off x="1773932" y="1017147"/>
            <a:ext cx="40084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Com feature extra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5202E4E-CA49-3871-69D2-37EC977E552A}"/>
              </a:ext>
            </a:extLst>
          </p:cNvPr>
          <p:cNvSpPr txBox="1"/>
          <p:nvPr/>
        </p:nvSpPr>
        <p:spPr>
          <a:xfrm>
            <a:off x="7462564" y="956635"/>
            <a:ext cx="40084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Sem feature extra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D2E67B9-99CC-A604-94BB-123B243A29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9500" y="1540367"/>
            <a:ext cx="4877481" cy="4210638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D6F72F18-3FC4-D3A2-DA0B-E5C3D20361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852" y="1540367"/>
            <a:ext cx="4925112" cy="423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052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3FF87-7748-7668-BF42-4D76FEAF4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68383488-3A4F-8119-91FA-69124231E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852" y="116632"/>
            <a:ext cx="10297144" cy="647899"/>
          </a:xfrm>
        </p:spPr>
        <p:txBody>
          <a:bodyPr rtlCol="0"/>
          <a:lstStyle/>
          <a:p>
            <a:pPr algn="ctr" rtl="0"/>
            <a:r>
              <a:rPr lang="pt-br" dirty="0"/>
              <a:t>Íris </a:t>
            </a:r>
            <a:r>
              <a:rPr lang="pt-br" dirty="0" err="1"/>
              <a:t>Dataset</a:t>
            </a:r>
            <a:r>
              <a:rPr lang="pt-br" dirty="0"/>
              <a:t> </a:t>
            </a:r>
            <a:r>
              <a:rPr lang="pt-BR" dirty="0"/>
              <a:t>–</a:t>
            </a:r>
            <a:r>
              <a:rPr lang="pt-br" dirty="0"/>
              <a:t> Random Forest: </a:t>
            </a:r>
            <a:r>
              <a:rPr lang="pt-br" dirty="0" err="1"/>
              <a:t>Classification</a:t>
            </a:r>
            <a:r>
              <a:rPr lang="pt-br" dirty="0"/>
              <a:t> </a:t>
            </a:r>
            <a:r>
              <a:rPr lang="pt-br" dirty="0" err="1"/>
              <a:t>report</a:t>
            </a:r>
            <a:endParaRPr lang="pt-br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0FD8C35-BE96-5883-78A0-E1E1CE83B4A0}"/>
              </a:ext>
            </a:extLst>
          </p:cNvPr>
          <p:cNvSpPr txBox="1"/>
          <p:nvPr/>
        </p:nvSpPr>
        <p:spPr>
          <a:xfrm>
            <a:off x="909836" y="5330231"/>
            <a:ext cx="1104131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Inserir as features extras falhou em produzir um resultado diferente. Como o resultado do </a:t>
            </a:r>
            <a:r>
              <a:rPr lang="pt-BR" sz="2800" dirty="0" err="1"/>
              <a:t>GridSearch</a:t>
            </a:r>
            <a:r>
              <a:rPr lang="pt-BR" sz="2800" dirty="0"/>
              <a:t> foi diferente, fica a dúvida se a melhora não ocorreu porque não há o que melhorar em um classificador perfeito.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17EDCB9-BB96-A300-F838-169FDE0BB9B3}"/>
              </a:ext>
            </a:extLst>
          </p:cNvPr>
          <p:cNvSpPr txBox="1"/>
          <p:nvPr/>
        </p:nvSpPr>
        <p:spPr>
          <a:xfrm>
            <a:off x="1773932" y="1017147"/>
            <a:ext cx="40084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Com features extras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5328B9F-C9C7-8343-97D8-12E1A664E30B}"/>
              </a:ext>
            </a:extLst>
          </p:cNvPr>
          <p:cNvSpPr txBox="1"/>
          <p:nvPr/>
        </p:nvSpPr>
        <p:spPr>
          <a:xfrm>
            <a:off x="7462564" y="956635"/>
            <a:ext cx="40084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Sem feature extra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B6B5AD2-9C4E-1EB8-A50F-259A00AB4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688" y="1628799"/>
            <a:ext cx="4709684" cy="2880319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1250D772-0525-5A3E-82B5-35D39D98D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8580" y="1607221"/>
            <a:ext cx="4709684" cy="2880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288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853B7-BD76-A73E-7AB5-0D0BBBB92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B91CC58D-6363-97AA-E61C-E01AABD8C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852" y="116632"/>
            <a:ext cx="10297144" cy="647899"/>
          </a:xfrm>
        </p:spPr>
        <p:txBody>
          <a:bodyPr rtlCol="0"/>
          <a:lstStyle/>
          <a:p>
            <a:pPr algn="ctr" rtl="0"/>
            <a:r>
              <a:rPr lang="pt-br" dirty="0"/>
              <a:t>Íris </a:t>
            </a:r>
            <a:r>
              <a:rPr lang="pt-br" dirty="0" err="1"/>
              <a:t>Dataset</a:t>
            </a:r>
            <a:r>
              <a:rPr lang="pt-br" dirty="0"/>
              <a:t> </a:t>
            </a:r>
            <a:r>
              <a:rPr lang="pt-BR" dirty="0"/>
              <a:t>–</a:t>
            </a:r>
            <a:r>
              <a:rPr lang="pt-br" dirty="0"/>
              <a:t> Random Forest: Matriz de Confusão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B39BE6C-C931-CF4C-8A2E-092D1C4F3672}"/>
              </a:ext>
            </a:extLst>
          </p:cNvPr>
          <p:cNvSpPr txBox="1"/>
          <p:nvPr/>
        </p:nvSpPr>
        <p:spPr>
          <a:xfrm>
            <a:off x="909836" y="5330231"/>
            <a:ext cx="1104131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Inserir a feature extra falhou em produzir um resultado diferente. Como o resultado do </a:t>
            </a:r>
            <a:r>
              <a:rPr lang="pt-BR" sz="2800" dirty="0" err="1"/>
              <a:t>GridSearch</a:t>
            </a:r>
            <a:r>
              <a:rPr lang="pt-BR" sz="2800" dirty="0"/>
              <a:t> foi diferente, fica a dúvida se a melhora não ocorreu porque não há o que melhorar em um classificador perfeito.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E08368B-331C-1F8F-4CD0-B47C9C190F3F}"/>
              </a:ext>
            </a:extLst>
          </p:cNvPr>
          <p:cNvSpPr txBox="1"/>
          <p:nvPr/>
        </p:nvSpPr>
        <p:spPr>
          <a:xfrm>
            <a:off x="1773932" y="1017147"/>
            <a:ext cx="40084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Com feature extra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C4D1EC7-3FD2-5C93-6FEC-505E6C77BC49}"/>
              </a:ext>
            </a:extLst>
          </p:cNvPr>
          <p:cNvSpPr txBox="1"/>
          <p:nvPr/>
        </p:nvSpPr>
        <p:spPr>
          <a:xfrm>
            <a:off x="7462564" y="956635"/>
            <a:ext cx="40084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Sem feature extra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7ACD21D-3AEB-62E5-4C70-9985E2786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389" y="1514765"/>
            <a:ext cx="4187432" cy="378055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28009F25-19EC-9983-5440-770F09023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468" y="1447527"/>
            <a:ext cx="4392488" cy="3783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655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28817-E2DA-BFD3-5E44-FB7D62998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5FFD7FEC-49C9-9DD3-5C0A-2E6D82BCE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852" y="116632"/>
            <a:ext cx="10297144" cy="647899"/>
          </a:xfrm>
        </p:spPr>
        <p:txBody>
          <a:bodyPr rtlCol="0">
            <a:normAutofit/>
          </a:bodyPr>
          <a:lstStyle/>
          <a:p>
            <a:pPr algn="ctr" rtl="0"/>
            <a:r>
              <a:rPr lang="pt-br" dirty="0"/>
              <a:t>Íris </a:t>
            </a:r>
            <a:r>
              <a:rPr lang="pt-br" dirty="0" err="1"/>
              <a:t>Dataset</a:t>
            </a:r>
            <a:r>
              <a:rPr lang="pt-br" dirty="0"/>
              <a:t> </a:t>
            </a:r>
            <a:r>
              <a:rPr lang="pt-BR" dirty="0"/>
              <a:t>–</a:t>
            </a:r>
            <a:r>
              <a:rPr lang="pt-br" dirty="0"/>
              <a:t> SVM versus Random Forest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DBBA967-58B4-1E7D-76C7-BE5FD3CAD1E0}"/>
              </a:ext>
            </a:extLst>
          </p:cNvPr>
          <p:cNvSpPr txBox="1"/>
          <p:nvPr/>
        </p:nvSpPr>
        <p:spPr>
          <a:xfrm>
            <a:off x="909836" y="1443841"/>
            <a:ext cx="1116124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A Random Forest apresentou um classificador perfeito mesmo sem as features extra fruto da clusterização, resultado que não foi igualado pelos </a:t>
            </a:r>
            <a:r>
              <a:rPr lang="pt-BR" sz="2800" dirty="0" err="1"/>
              <a:t>SVMs</a:t>
            </a:r>
            <a:r>
              <a:rPr lang="pt-BR" sz="2800" dirty="0"/>
              <a:t>, que apresentaram resultados iguais (muito bons), porém imperfeitos.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O </a:t>
            </a:r>
            <a:r>
              <a:rPr lang="pt-BR" sz="2800" dirty="0" err="1"/>
              <a:t>GridSearch</a:t>
            </a:r>
            <a:r>
              <a:rPr lang="pt-BR" sz="2800" dirty="0"/>
              <a:t> só produziu alguma mudança nos parâmetros das Random </a:t>
            </a:r>
            <a:r>
              <a:rPr lang="pt-BR" sz="2800" dirty="0" err="1"/>
              <a:t>Forests</a:t>
            </a:r>
            <a:r>
              <a:rPr lang="pt-BR" sz="2800" dirty="0"/>
              <a:t>, não tendo mudança nos dois modelos SVM.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Para este </a:t>
            </a:r>
            <a:r>
              <a:rPr lang="pt-BR" sz="2800" dirty="0" err="1"/>
              <a:t>Dataset</a:t>
            </a:r>
            <a:r>
              <a:rPr lang="pt-BR" sz="2800" dirty="0"/>
              <a:t>, é razoável assumir que a inserção das features extras não produziu efeito algum, pelo menos para estes dois modelos.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4017540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D7A8A-8517-AA82-ACD7-13841ED2C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78CD87D5-CB83-55DD-1840-BEDFFD6B4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852" y="116632"/>
            <a:ext cx="10297144" cy="647899"/>
          </a:xfrm>
        </p:spPr>
        <p:txBody>
          <a:bodyPr rtlCol="0"/>
          <a:lstStyle/>
          <a:p>
            <a:pPr algn="ctr" rtl="0"/>
            <a:r>
              <a:rPr lang="pt-br" dirty="0" err="1"/>
              <a:t>Digits</a:t>
            </a:r>
            <a:r>
              <a:rPr lang="pt-br" dirty="0"/>
              <a:t> </a:t>
            </a:r>
            <a:r>
              <a:rPr lang="pt-br" dirty="0" err="1"/>
              <a:t>Dataset</a:t>
            </a:r>
            <a:r>
              <a:rPr lang="pt-br" dirty="0"/>
              <a:t> - Clusterização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FD530EB-1EDE-F1C2-5EE5-1F0086AA3B1C}"/>
              </a:ext>
            </a:extLst>
          </p:cNvPr>
          <p:cNvSpPr txBox="1"/>
          <p:nvPr/>
        </p:nvSpPr>
        <p:spPr>
          <a:xfrm>
            <a:off x="909836" y="5330231"/>
            <a:ext cx="1104131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dirty="0"/>
              <a:t>Tomaremos K=4. Com um alto número de clusters, as features extras estavam piorando demais o resultado, ao ponto de deixar o modelo imprestável. Os gráficos mostram que os clusters não estão bem definidos (baixo silhueta), e acredito que as features extras estavam diminuindo a importância das features originais, confundindo o modelo. 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F852CE0-2F9D-1B32-2D06-38BF012A7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867" y="950828"/>
            <a:ext cx="4726877" cy="4212157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3750DC2E-0D29-77BE-B2DF-CB68BAC2D0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4080" y="950829"/>
            <a:ext cx="5649113" cy="4248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851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4C509-57EF-6792-0A83-A14303BFF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063905D0-C16A-5E20-AF31-6AAF34A74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852" y="116632"/>
            <a:ext cx="10297144" cy="647899"/>
          </a:xfrm>
        </p:spPr>
        <p:txBody>
          <a:bodyPr rtlCol="0">
            <a:normAutofit/>
          </a:bodyPr>
          <a:lstStyle/>
          <a:p>
            <a:pPr algn="ctr" rtl="0"/>
            <a:r>
              <a:rPr lang="pt-br" sz="2800" dirty="0" err="1"/>
              <a:t>Digits</a:t>
            </a:r>
            <a:r>
              <a:rPr lang="pt-br" sz="2800" dirty="0"/>
              <a:t> </a:t>
            </a:r>
            <a:r>
              <a:rPr lang="pt-br" sz="2800" dirty="0" err="1"/>
              <a:t>Dataset</a:t>
            </a:r>
            <a:r>
              <a:rPr lang="pt-br" sz="2800" dirty="0"/>
              <a:t> </a:t>
            </a:r>
            <a:r>
              <a:rPr lang="pt-BR" sz="2800" dirty="0"/>
              <a:t>–</a:t>
            </a:r>
            <a:r>
              <a:rPr lang="pt-br" sz="2800" dirty="0"/>
              <a:t> Resultado do </a:t>
            </a:r>
            <a:r>
              <a:rPr lang="pt-br" sz="2800" dirty="0" err="1"/>
              <a:t>GridSearch</a:t>
            </a:r>
            <a:r>
              <a:rPr lang="pt-br" sz="2800" dirty="0"/>
              <a:t> (</a:t>
            </a:r>
            <a:r>
              <a:rPr lang="pt-br" sz="2800" dirty="0" err="1"/>
              <a:t>Scoring</a:t>
            </a:r>
            <a:r>
              <a:rPr lang="pt-br" sz="2800" dirty="0"/>
              <a:t>= f1_macro)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AD57161-9079-696A-6264-3BCADA3EA225}"/>
              </a:ext>
            </a:extLst>
          </p:cNvPr>
          <p:cNvSpPr txBox="1"/>
          <p:nvPr/>
        </p:nvSpPr>
        <p:spPr>
          <a:xfrm>
            <a:off x="909837" y="1124744"/>
            <a:ext cx="1116124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Cross </a:t>
            </a:r>
            <a:r>
              <a:rPr lang="pt-BR" sz="2800" dirty="0" err="1"/>
              <a:t>Validation</a:t>
            </a:r>
            <a:r>
              <a:rPr lang="pt-BR" sz="2800" dirty="0"/>
              <a:t> com 5 </a:t>
            </a:r>
            <a:r>
              <a:rPr lang="pt-BR" sz="2800" dirty="0" err="1"/>
              <a:t>folds</a:t>
            </a:r>
            <a:r>
              <a:rPr lang="pt-BR" sz="2800" dirty="0"/>
              <a:t> (cv=5)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Parâmetros para o SVM</a:t>
            </a:r>
          </a:p>
          <a:p>
            <a:pPr marL="1066693" lvl="1" indent="-457200">
              <a:buFont typeface="Arial" panose="020B0604020202020204" pitchFamily="34" charset="0"/>
              <a:buChar char="•"/>
            </a:pPr>
            <a:r>
              <a:rPr lang="pt-BR" sz="2800" dirty="0"/>
              <a:t>Com a feature extra: C=2.275, kernel </a:t>
            </a:r>
            <a:r>
              <a:rPr lang="pt-BR" sz="2800" dirty="0" err="1"/>
              <a:t>rbf</a:t>
            </a:r>
            <a:endParaRPr lang="pt-BR" sz="2800" dirty="0"/>
          </a:p>
          <a:p>
            <a:pPr marL="1066693" lvl="1" indent="-457200">
              <a:buFont typeface="Arial" panose="020B0604020202020204" pitchFamily="34" charset="0"/>
              <a:buChar char="•"/>
            </a:pPr>
            <a:r>
              <a:rPr lang="pt-BR" sz="2800" dirty="0"/>
              <a:t>Sem a feature extra: Idêntico</a:t>
            </a:r>
          </a:p>
          <a:p>
            <a:pPr marL="1066693" lvl="1" indent="-457200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1066693" lvl="1" indent="-457200">
              <a:buFont typeface="Arial" panose="020B0604020202020204" pitchFamily="34" charset="0"/>
              <a:buChar char="•"/>
            </a:pPr>
            <a:endParaRPr lang="pt-BR" sz="28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7ACD739-D718-5D58-40CB-527B14855972}"/>
              </a:ext>
            </a:extLst>
          </p:cNvPr>
          <p:cNvSpPr txBox="1"/>
          <p:nvPr/>
        </p:nvSpPr>
        <p:spPr>
          <a:xfrm>
            <a:off x="895844" y="2852936"/>
            <a:ext cx="1116124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Parâmetros para a Random Forest</a:t>
            </a:r>
          </a:p>
          <a:p>
            <a:pPr marL="1066693" lvl="1" indent="-457200">
              <a:buFont typeface="Arial" panose="020B0604020202020204" pitchFamily="34" charset="0"/>
              <a:buChar char="•"/>
            </a:pPr>
            <a:r>
              <a:rPr lang="pt-BR" sz="2800" dirty="0"/>
              <a:t>Com a feature extra: </a:t>
            </a:r>
            <a:r>
              <a:rPr lang="pt-BR" sz="2800" dirty="0" err="1"/>
              <a:t>Criterion</a:t>
            </a:r>
            <a:r>
              <a:rPr lang="pt-BR" sz="2800" dirty="0"/>
              <a:t>=“</a:t>
            </a:r>
            <a:r>
              <a:rPr lang="pt-BR" sz="2800" dirty="0" err="1"/>
              <a:t>entropy</a:t>
            </a:r>
            <a:r>
              <a:rPr lang="pt-BR" sz="2800" dirty="0"/>
              <a:t>”, Profundidade=6</a:t>
            </a:r>
          </a:p>
          <a:p>
            <a:pPr marL="1066693" lvl="1" indent="-457200">
              <a:buFont typeface="Arial" panose="020B0604020202020204" pitchFamily="34" charset="0"/>
              <a:buChar char="•"/>
            </a:pPr>
            <a:r>
              <a:rPr lang="pt-BR" sz="2800" dirty="0"/>
              <a:t>Sem a feature extra: </a:t>
            </a:r>
            <a:r>
              <a:rPr lang="pt-BR" sz="2800" dirty="0" err="1"/>
              <a:t>Criterion</a:t>
            </a:r>
            <a:r>
              <a:rPr lang="pt-BR" sz="2800" dirty="0"/>
              <a:t>=“</a:t>
            </a:r>
            <a:r>
              <a:rPr lang="pt-BR" sz="2800" dirty="0" err="1"/>
              <a:t>log_loss</a:t>
            </a:r>
            <a:r>
              <a:rPr lang="pt-BR" sz="2800" dirty="0"/>
              <a:t>”, Profundidade=7</a:t>
            </a:r>
          </a:p>
          <a:p>
            <a:pPr marL="1066693" lvl="1" indent="-457200">
              <a:buFont typeface="Arial" panose="020B0604020202020204" pitchFamily="34" charset="0"/>
              <a:buChar char="•"/>
            </a:pP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3832417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AC138-1C58-D8FC-0FA5-438FA7E0D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DDEBCDAD-04CC-3670-72BD-8C92D8278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852" y="116632"/>
            <a:ext cx="10297144" cy="647899"/>
          </a:xfrm>
        </p:spPr>
        <p:txBody>
          <a:bodyPr rtlCol="0"/>
          <a:lstStyle/>
          <a:p>
            <a:pPr algn="ctr" rtl="0"/>
            <a:r>
              <a:rPr lang="pt-br" dirty="0" err="1"/>
              <a:t>Digits</a:t>
            </a:r>
            <a:r>
              <a:rPr lang="pt-br" dirty="0"/>
              <a:t> </a:t>
            </a:r>
            <a:r>
              <a:rPr lang="pt-br" dirty="0" err="1"/>
              <a:t>Dataset</a:t>
            </a:r>
            <a:r>
              <a:rPr lang="pt-br" dirty="0"/>
              <a:t> </a:t>
            </a:r>
            <a:r>
              <a:rPr lang="pt-BR" dirty="0"/>
              <a:t>–</a:t>
            </a:r>
            <a:r>
              <a:rPr lang="pt-br" dirty="0"/>
              <a:t> SVM: </a:t>
            </a:r>
            <a:r>
              <a:rPr lang="pt-br" dirty="0" err="1"/>
              <a:t>Classification</a:t>
            </a:r>
            <a:r>
              <a:rPr lang="pt-br" dirty="0"/>
              <a:t> </a:t>
            </a:r>
            <a:r>
              <a:rPr lang="pt-br" dirty="0" err="1"/>
              <a:t>report</a:t>
            </a:r>
            <a:endParaRPr lang="pt-br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AE26F21-AE7D-EAF2-C316-32F1001EE99A}"/>
              </a:ext>
            </a:extLst>
          </p:cNvPr>
          <p:cNvSpPr txBox="1"/>
          <p:nvPr/>
        </p:nvSpPr>
        <p:spPr>
          <a:xfrm>
            <a:off x="909836" y="5330231"/>
            <a:ext cx="1104131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Existe uma diferença bastante sutil entre os </a:t>
            </a:r>
            <a:r>
              <a:rPr lang="pt-BR" sz="2800" dirty="0" err="1"/>
              <a:t>reports</a:t>
            </a:r>
            <a:r>
              <a:rPr lang="pt-BR" sz="2800" dirty="0"/>
              <a:t>. Os F1 scores das classes 5 e 6 são 0.01 maiores no modelo sem features extras.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E257079-2938-B4D8-0153-B89E367D630B}"/>
              </a:ext>
            </a:extLst>
          </p:cNvPr>
          <p:cNvSpPr txBox="1"/>
          <p:nvPr/>
        </p:nvSpPr>
        <p:spPr>
          <a:xfrm>
            <a:off x="1773932" y="1017147"/>
            <a:ext cx="40084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Com features extras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51F3606-83F4-3559-265E-FE091581FCA5}"/>
              </a:ext>
            </a:extLst>
          </p:cNvPr>
          <p:cNvSpPr txBox="1"/>
          <p:nvPr/>
        </p:nvSpPr>
        <p:spPr>
          <a:xfrm>
            <a:off x="7462564" y="956635"/>
            <a:ext cx="40084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Sem feature extra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FB6589C-ABC3-9E86-AC07-6A3AB379B4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868" y="1540367"/>
            <a:ext cx="4201111" cy="3343742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FBF71DC-C6B4-7535-974A-C3249D3DF1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468" y="1534825"/>
            <a:ext cx="4267796" cy="3343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525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9B9C2-D189-0F95-21DB-18694207C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D1E9023B-5AFB-23F2-9F8E-77A0351A2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852" y="116632"/>
            <a:ext cx="10297144" cy="647899"/>
          </a:xfrm>
        </p:spPr>
        <p:txBody>
          <a:bodyPr rtlCol="0"/>
          <a:lstStyle/>
          <a:p>
            <a:pPr algn="ctr" rtl="0"/>
            <a:r>
              <a:rPr lang="pt-br" dirty="0" err="1"/>
              <a:t>Digits</a:t>
            </a:r>
            <a:r>
              <a:rPr lang="pt-br" dirty="0"/>
              <a:t> </a:t>
            </a:r>
            <a:r>
              <a:rPr lang="pt-br" dirty="0" err="1"/>
              <a:t>Dataset</a:t>
            </a:r>
            <a:r>
              <a:rPr lang="pt-br" dirty="0"/>
              <a:t> </a:t>
            </a:r>
            <a:r>
              <a:rPr lang="pt-BR" dirty="0"/>
              <a:t>–</a:t>
            </a:r>
            <a:r>
              <a:rPr lang="pt-br" dirty="0"/>
              <a:t> SVM: Matriz de Confusão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BF00B72-C15D-DB0B-F92D-03F4329EE237}"/>
              </a:ext>
            </a:extLst>
          </p:cNvPr>
          <p:cNvSpPr txBox="1"/>
          <p:nvPr/>
        </p:nvSpPr>
        <p:spPr>
          <a:xfrm>
            <a:off x="1147514" y="5890586"/>
            <a:ext cx="1104131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A matriz ilustra as sutis diferenças nas classes 5 e 6. Sem features extras, a classe 5 tem 1 TP a mais, enquanto a 6 tem um FP a menos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EDCCD67-ADD4-E83D-98B1-271B5C7F739E}"/>
              </a:ext>
            </a:extLst>
          </p:cNvPr>
          <p:cNvSpPr txBox="1"/>
          <p:nvPr/>
        </p:nvSpPr>
        <p:spPr>
          <a:xfrm>
            <a:off x="1773932" y="1017147"/>
            <a:ext cx="40084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Com feature extra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AB1718A-0DA8-9FDE-DBD8-CE3DD67EB05F}"/>
              </a:ext>
            </a:extLst>
          </p:cNvPr>
          <p:cNvSpPr txBox="1"/>
          <p:nvPr/>
        </p:nvSpPr>
        <p:spPr>
          <a:xfrm>
            <a:off x="7462564" y="956635"/>
            <a:ext cx="40084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Sem feature extra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4716DE6-ECA5-CEE6-BEB4-F176D6B0D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914" y="1597578"/>
            <a:ext cx="4725059" cy="419158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D48EC193-15E9-4002-8D00-7EF634DB04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70" y="1581278"/>
            <a:ext cx="4791744" cy="419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108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6CB85-3F7A-1EDD-147B-5DFFCDD28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945494C9-18D9-57C6-350A-89A0B240C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852" y="116632"/>
            <a:ext cx="10297144" cy="647899"/>
          </a:xfrm>
        </p:spPr>
        <p:txBody>
          <a:bodyPr rtlCol="0"/>
          <a:lstStyle/>
          <a:p>
            <a:pPr algn="ctr" rtl="0"/>
            <a:r>
              <a:rPr lang="pt-br" dirty="0" err="1"/>
              <a:t>Digits</a:t>
            </a:r>
            <a:r>
              <a:rPr lang="pt-br" dirty="0"/>
              <a:t> </a:t>
            </a:r>
            <a:r>
              <a:rPr lang="pt-br" dirty="0" err="1"/>
              <a:t>Dataset</a:t>
            </a:r>
            <a:r>
              <a:rPr lang="pt-br" dirty="0"/>
              <a:t> </a:t>
            </a:r>
            <a:r>
              <a:rPr lang="pt-BR" dirty="0"/>
              <a:t>–</a:t>
            </a:r>
            <a:r>
              <a:rPr lang="pt-br" dirty="0"/>
              <a:t> Random Forest: </a:t>
            </a:r>
            <a:r>
              <a:rPr lang="pt-br" dirty="0" err="1"/>
              <a:t>Classification</a:t>
            </a:r>
            <a:r>
              <a:rPr lang="pt-br" dirty="0"/>
              <a:t> </a:t>
            </a:r>
            <a:r>
              <a:rPr lang="pt-br" dirty="0" err="1"/>
              <a:t>report</a:t>
            </a:r>
            <a:endParaRPr lang="pt-br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D7F08E7-E609-173E-BB86-00F072DEC309}"/>
              </a:ext>
            </a:extLst>
          </p:cNvPr>
          <p:cNvSpPr txBox="1"/>
          <p:nvPr/>
        </p:nvSpPr>
        <p:spPr>
          <a:xfrm>
            <a:off x="909836" y="5330231"/>
            <a:ext cx="1104131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Inserir as features extras não só falhou em produzir um resultado melhor, como piorou o resultado.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71CCD2B-D2E5-CA2B-C13F-DDB44B4DFACD}"/>
              </a:ext>
            </a:extLst>
          </p:cNvPr>
          <p:cNvSpPr txBox="1"/>
          <p:nvPr/>
        </p:nvSpPr>
        <p:spPr>
          <a:xfrm>
            <a:off x="1773932" y="1017147"/>
            <a:ext cx="40084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Com features extras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871E019-9ED1-DFE4-0E5B-243F97C59301}"/>
              </a:ext>
            </a:extLst>
          </p:cNvPr>
          <p:cNvSpPr txBox="1"/>
          <p:nvPr/>
        </p:nvSpPr>
        <p:spPr>
          <a:xfrm>
            <a:off x="7462564" y="956635"/>
            <a:ext cx="40084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Sem feature extra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1C22E96-0D67-4072-FA72-314D357572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868" y="1551852"/>
            <a:ext cx="4201111" cy="3324689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DBA98C16-8ADE-E9DD-C177-010401E7FE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468" y="1529559"/>
            <a:ext cx="4163006" cy="3324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78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9D54F-1E18-D270-1F42-F9191F20F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BBE3B568-828D-7093-14C9-E41B7699F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852" y="116632"/>
            <a:ext cx="10297144" cy="647899"/>
          </a:xfrm>
        </p:spPr>
        <p:txBody>
          <a:bodyPr rtlCol="0"/>
          <a:lstStyle/>
          <a:p>
            <a:pPr algn="ctr" rtl="0"/>
            <a:r>
              <a:rPr lang="pt-br" dirty="0" err="1"/>
              <a:t>Digits</a:t>
            </a:r>
            <a:r>
              <a:rPr lang="pt-br" dirty="0"/>
              <a:t> </a:t>
            </a:r>
            <a:r>
              <a:rPr lang="pt-br" dirty="0" err="1"/>
              <a:t>Dataset</a:t>
            </a:r>
            <a:r>
              <a:rPr lang="pt-br" dirty="0"/>
              <a:t> </a:t>
            </a:r>
            <a:r>
              <a:rPr lang="pt-BR" dirty="0"/>
              <a:t>–</a:t>
            </a:r>
            <a:r>
              <a:rPr lang="pt-br" dirty="0"/>
              <a:t> Random Forest: Matriz de Confusão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5C9BD3C-4A63-9ADB-11BC-E927E380987C}"/>
              </a:ext>
            </a:extLst>
          </p:cNvPr>
          <p:cNvSpPr txBox="1"/>
          <p:nvPr/>
        </p:nvSpPr>
        <p:spPr>
          <a:xfrm>
            <a:off x="909836" y="5330231"/>
            <a:ext cx="1104131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De forma geral, as matrizes representam a piora (ainda que não tão grave) com a inserção de features extras. 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2503B0C-CD37-0574-BD80-8700A0107537}"/>
              </a:ext>
            </a:extLst>
          </p:cNvPr>
          <p:cNvSpPr txBox="1"/>
          <p:nvPr/>
        </p:nvSpPr>
        <p:spPr>
          <a:xfrm>
            <a:off x="1773932" y="1017147"/>
            <a:ext cx="40084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Com feature extra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A7BD428-00EC-9117-EB22-CA878943BB8D}"/>
              </a:ext>
            </a:extLst>
          </p:cNvPr>
          <p:cNvSpPr txBox="1"/>
          <p:nvPr/>
        </p:nvSpPr>
        <p:spPr>
          <a:xfrm>
            <a:off x="7462564" y="956635"/>
            <a:ext cx="40084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Sem feature extra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1C10A1F-6E1B-3926-E6D5-097578FC8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921" y="1540367"/>
            <a:ext cx="4610743" cy="3708984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B02AD1AF-68AD-1B3B-F619-B1A01461C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578" y="1540367"/>
            <a:ext cx="4746867" cy="3708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421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C6BD0-1B37-F9FD-6546-E09676534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3BE9B734-5F1E-5395-6350-44EF17F90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852" y="116632"/>
            <a:ext cx="10297144" cy="647899"/>
          </a:xfrm>
        </p:spPr>
        <p:txBody>
          <a:bodyPr rtlCol="0">
            <a:normAutofit/>
          </a:bodyPr>
          <a:lstStyle/>
          <a:p>
            <a:pPr algn="ctr" rtl="0"/>
            <a:r>
              <a:rPr lang="pt-br" dirty="0" err="1"/>
              <a:t>Digits</a:t>
            </a:r>
            <a:r>
              <a:rPr lang="pt-br" dirty="0"/>
              <a:t> </a:t>
            </a:r>
            <a:r>
              <a:rPr lang="pt-br" dirty="0" err="1"/>
              <a:t>Dataset</a:t>
            </a:r>
            <a:r>
              <a:rPr lang="pt-br" dirty="0"/>
              <a:t> </a:t>
            </a:r>
            <a:r>
              <a:rPr lang="pt-BR" dirty="0"/>
              <a:t>–</a:t>
            </a:r>
            <a:r>
              <a:rPr lang="pt-br" dirty="0"/>
              <a:t> SVM versus Random Forest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6D3307B-5E83-B826-B720-190F828F917B}"/>
              </a:ext>
            </a:extLst>
          </p:cNvPr>
          <p:cNvSpPr txBox="1"/>
          <p:nvPr/>
        </p:nvSpPr>
        <p:spPr>
          <a:xfrm>
            <a:off x="909836" y="1443841"/>
            <a:ext cx="1116124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Os modelos sem features extras apresentaram desempenhos melhores do que com as features extras. Os </a:t>
            </a:r>
            <a:r>
              <a:rPr lang="pt-BR" sz="2800" dirty="0" err="1"/>
              <a:t>SVMs</a:t>
            </a:r>
            <a:r>
              <a:rPr lang="pt-BR" sz="2800" dirty="0"/>
              <a:t>, com sutil diferença entre si, mostraram desempenho superior às Random </a:t>
            </a:r>
            <a:r>
              <a:rPr lang="pt-BR" sz="2800" dirty="0" err="1"/>
              <a:t>Forests</a:t>
            </a:r>
            <a:r>
              <a:rPr lang="pt-BR" sz="28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O </a:t>
            </a:r>
            <a:r>
              <a:rPr lang="pt-BR" sz="2800" dirty="0" err="1"/>
              <a:t>GridSearch</a:t>
            </a:r>
            <a:r>
              <a:rPr lang="pt-BR" sz="2800" dirty="0"/>
              <a:t> só produziu alguma mudança nos parâmetros das Random </a:t>
            </a:r>
            <a:r>
              <a:rPr lang="pt-BR" sz="2800" dirty="0" err="1"/>
              <a:t>Forests</a:t>
            </a:r>
            <a:r>
              <a:rPr lang="pt-BR" sz="2800" dirty="0"/>
              <a:t>, não tendo mudança nos dois modelos SVM.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Para este </a:t>
            </a:r>
            <a:r>
              <a:rPr lang="pt-BR" sz="2800" dirty="0" err="1"/>
              <a:t>Dataset</a:t>
            </a:r>
            <a:r>
              <a:rPr lang="pt-BR" sz="2800" dirty="0"/>
              <a:t>, é razoável assumir que a inserção das features extras piorou o resultado, ainda que muito pouco no caso dos </a:t>
            </a:r>
            <a:r>
              <a:rPr lang="pt-BR" sz="2800" dirty="0" err="1"/>
              <a:t>SVMs</a:t>
            </a:r>
            <a:r>
              <a:rPr lang="pt-BR" sz="2800" dirty="0"/>
              <a:t>, ou de forma mais sensível nas Random </a:t>
            </a:r>
            <a:r>
              <a:rPr lang="pt-BR" sz="2800" dirty="0" err="1"/>
              <a:t>Forests</a:t>
            </a:r>
            <a:r>
              <a:rPr lang="pt-BR" sz="2800"/>
              <a:t>.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1759139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C6875-82E8-C2EE-E955-F0CAEF779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FC805A1F-59C7-8689-B34A-BD1A3A664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852" y="116632"/>
            <a:ext cx="10297144" cy="647899"/>
          </a:xfrm>
        </p:spPr>
        <p:txBody>
          <a:bodyPr rtlCol="0"/>
          <a:lstStyle/>
          <a:p>
            <a:pPr algn="ctr" rtl="0"/>
            <a:r>
              <a:rPr lang="pt-br" dirty="0" err="1"/>
              <a:t>Wine</a:t>
            </a:r>
            <a:r>
              <a:rPr lang="pt-br" dirty="0"/>
              <a:t> </a:t>
            </a:r>
            <a:r>
              <a:rPr lang="pt-br" dirty="0" err="1"/>
              <a:t>Dataset</a:t>
            </a:r>
            <a:r>
              <a:rPr lang="pt-br" dirty="0"/>
              <a:t> - Clusterização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8785443-AC7D-C1AF-F237-BF4A4BCD8AAD}"/>
              </a:ext>
            </a:extLst>
          </p:cNvPr>
          <p:cNvSpPr txBox="1"/>
          <p:nvPr/>
        </p:nvSpPr>
        <p:spPr>
          <a:xfrm>
            <a:off x="909836" y="5330231"/>
            <a:ext cx="1104131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Tomo K=3, por ter o maior índice silhueta, apresentar a maior queda nas distâncias internas dos clusters, e pelo fato de saber que só existem 3 targets possíveis, o que me leva a crer que os clusters devem estar bem definidos pelas suas características, cada um sendo uma das classes do target. Raciocínio similar ao feito no Íris.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949D0B1-1F46-2346-234E-C55CD37FC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859" y="920030"/>
            <a:ext cx="5110135" cy="4252328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C413B4DD-617C-AB89-8963-E22A2F115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468" y="913471"/>
            <a:ext cx="5404601" cy="422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455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B0C73-D97E-7E84-5EBA-5FFA36C55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5F113305-9955-28E9-28AB-79F041425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852" y="116632"/>
            <a:ext cx="10297144" cy="647899"/>
          </a:xfrm>
        </p:spPr>
        <p:txBody>
          <a:bodyPr rtlCol="0">
            <a:normAutofit/>
          </a:bodyPr>
          <a:lstStyle/>
          <a:p>
            <a:pPr algn="ctr" rtl="0"/>
            <a:r>
              <a:rPr lang="pt-br" sz="3000" dirty="0" err="1"/>
              <a:t>Wine</a:t>
            </a:r>
            <a:r>
              <a:rPr lang="pt-br" sz="3000" dirty="0"/>
              <a:t> </a:t>
            </a:r>
            <a:r>
              <a:rPr lang="pt-br" sz="3000" dirty="0" err="1"/>
              <a:t>Dataset</a:t>
            </a:r>
            <a:r>
              <a:rPr lang="pt-br" sz="3000" dirty="0"/>
              <a:t> </a:t>
            </a:r>
            <a:r>
              <a:rPr lang="pt-BR" sz="3000" dirty="0"/>
              <a:t>–</a:t>
            </a:r>
            <a:r>
              <a:rPr lang="pt-br" sz="3000" dirty="0"/>
              <a:t> Resultado do </a:t>
            </a:r>
            <a:r>
              <a:rPr lang="pt-br" sz="3000" dirty="0" err="1"/>
              <a:t>GridSearch</a:t>
            </a:r>
            <a:r>
              <a:rPr lang="pt-br" sz="3000" dirty="0"/>
              <a:t> (</a:t>
            </a:r>
            <a:r>
              <a:rPr lang="pt-br" sz="3000" dirty="0" err="1"/>
              <a:t>Scoring</a:t>
            </a:r>
            <a:r>
              <a:rPr lang="pt-br" sz="3000" dirty="0"/>
              <a:t>= f1_macro)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19EECC1-E0E5-5807-60E7-90F0BACF29C5}"/>
              </a:ext>
            </a:extLst>
          </p:cNvPr>
          <p:cNvSpPr txBox="1"/>
          <p:nvPr/>
        </p:nvSpPr>
        <p:spPr>
          <a:xfrm>
            <a:off x="909837" y="1124744"/>
            <a:ext cx="1116124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Cross </a:t>
            </a:r>
            <a:r>
              <a:rPr lang="pt-BR" sz="2800" dirty="0" err="1"/>
              <a:t>Validation</a:t>
            </a:r>
            <a:r>
              <a:rPr lang="pt-BR" sz="2800" dirty="0"/>
              <a:t> com 5 </a:t>
            </a:r>
            <a:r>
              <a:rPr lang="pt-BR" sz="2800" dirty="0" err="1"/>
              <a:t>folds</a:t>
            </a:r>
            <a:r>
              <a:rPr lang="pt-BR" sz="2800" dirty="0"/>
              <a:t> (cv=5)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Parâmetros para o SVM</a:t>
            </a:r>
          </a:p>
          <a:p>
            <a:pPr marL="1066693" lvl="1" indent="-457200">
              <a:buFont typeface="Arial" panose="020B0604020202020204" pitchFamily="34" charset="0"/>
              <a:buChar char="•"/>
            </a:pPr>
            <a:r>
              <a:rPr lang="pt-BR" sz="2800" dirty="0"/>
              <a:t>Com a feature extra: C=0.825, kernel </a:t>
            </a:r>
            <a:r>
              <a:rPr lang="pt-BR" sz="2800" dirty="0" err="1"/>
              <a:t>sigmoid</a:t>
            </a:r>
            <a:endParaRPr lang="pt-BR" sz="2800" dirty="0"/>
          </a:p>
          <a:p>
            <a:pPr marL="1066693" lvl="1" indent="-457200">
              <a:buFont typeface="Arial" panose="020B0604020202020204" pitchFamily="34" charset="0"/>
              <a:buChar char="•"/>
            </a:pPr>
            <a:r>
              <a:rPr lang="pt-BR" sz="2800" dirty="0"/>
              <a:t>Sem a feature extra: C=0.825, kernel linear</a:t>
            </a:r>
          </a:p>
          <a:p>
            <a:pPr marL="1066693" lvl="1" indent="-457200">
              <a:buFont typeface="Arial" panose="020B0604020202020204" pitchFamily="34" charset="0"/>
              <a:buChar char="•"/>
            </a:pPr>
            <a:endParaRPr lang="pt-BR" sz="28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D24BCBB-D6D8-C1CF-99FC-FBFCD9A538C2}"/>
              </a:ext>
            </a:extLst>
          </p:cNvPr>
          <p:cNvSpPr txBox="1"/>
          <p:nvPr/>
        </p:nvSpPr>
        <p:spPr>
          <a:xfrm>
            <a:off x="895844" y="2852936"/>
            <a:ext cx="1116124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Parâmetros para a Random Forest</a:t>
            </a:r>
          </a:p>
          <a:p>
            <a:pPr marL="1066693" lvl="1" indent="-457200">
              <a:buFont typeface="Arial" panose="020B0604020202020204" pitchFamily="34" charset="0"/>
              <a:buChar char="•"/>
            </a:pPr>
            <a:r>
              <a:rPr lang="pt-BR" sz="2800" dirty="0"/>
              <a:t>Com a feature extra: </a:t>
            </a:r>
            <a:r>
              <a:rPr lang="pt-BR" sz="2800" dirty="0" err="1"/>
              <a:t>Criterion</a:t>
            </a:r>
            <a:r>
              <a:rPr lang="pt-BR" sz="2800" dirty="0"/>
              <a:t>=“</a:t>
            </a:r>
            <a:r>
              <a:rPr lang="pt-BR" sz="2800" dirty="0" err="1"/>
              <a:t>entropy</a:t>
            </a:r>
            <a:r>
              <a:rPr lang="pt-BR" sz="2800" dirty="0"/>
              <a:t>”, Profundidade=7</a:t>
            </a:r>
          </a:p>
          <a:p>
            <a:pPr marL="1066693" lvl="1" indent="-457200">
              <a:buFont typeface="Arial" panose="020B0604020202020204" pitchFamily="34" charset="0"/>
              <a:buChar char="•"/>
            </a:pPr>
            <a:r>
              <a:rPr lang="pt-BR" sz="2800" dirty="0"/>
              <a:t>Sem a feature extra: </a:t>
            </a:r>
            <a:r>
              <a:rPr lang="pt-BR" sz="2800" dirty="0" err="1"/>
              <a:t>Criterion</a:t>
            </a:r>
            <a:r>
              <a:rPr lang="pt-BR" sz="2800" dirty="0"/>
              <a:t>=“</a:t>
            </a:r>
            <a:r>
              <a:rPr lang="pt-BR" sz="2800" dirty="0" err="1"/>
              <a:t>gini</a:t>
            </a:r>
            <a:r>
              <a:rPr lang="pt-BR" sz="2800" dirty="0"/>
              <a:t>”, Profundidade=5</a:t>
            </a:r>
          </a:p>
          <a:p>
            <a:pPr marL="1066693" lvl="1" indent="-457200">
              <a:buFont typeface="Arial" panose="020B0604020202020204" pitchFamily="34" charset="0"/>
              <a:buChar char="•"/>
            </a:pP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2097136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98CAA-009D-382E-DAA8-79F3B82B2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ACC682E7-5FE8-C0B2-9580-E47C4F4E1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852" y="116632"/>
            <a:ext cx="10297144" cy="647899"/>
          </a:xfrm>
        </p:spPr>
        <p:txBody>
          <a:bodyPr rtlCol="0"/>
          <a:lstStyle/>
          <a:p>
            <a:pPr algn="ctr" rtl="0"/>
            <a:r>
              <a:rPr lang="pt-br" dirty="0" err="1"/>
              <a:t>Wine</a:t>
            </a:r>
            <a:r>
              <a:rPr lang="pt-br" dirty="0"/>
              <a:t> </a:t>
            </a:r>
            <a:r>
              <a:rPr lang="pt-br" dirty="0" err="1"/>
              <a:t>Dataset</a:t>
            </a:r>
            <a:r>
              <a:rPr lang="pt-br" dirty="0"/>
              <a:t> </a:t>
            </a:r>
            <a:r>
              <a:rPr lang="pt-BR" dirty="0"/>
              <a:t>–</a:t>
            </a:r>
            <a:r>
              <a:rPr lang="pt-br" dirty="0"/>
              <a:t> SVM: </a:t>
            </a:r>
            <a:r>
              <a:rPr lang="pt-br" dirty="0" err="1"/>
              <a:t>Classification</a:t>
            </a:r>
            <a:r>
              <a:rPr lang="pt-br" dirty="0"/>
              <a:t> </a:t>
            </a:r>
            <a:r>
              <a:rPr lang="pt-br" dirty="0" err="1"/>
              <a:t>report</a:t>
            </a:r>
            <a:endParaRPr lang="pt-br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8643789-C4B1-55B1-43E8-6236DE9CC47D}"/>
              </a:ext>
            </a:extLst>
          </p:cNvPr>
          <p:cNvSpPr txBox="1"/>
          <p:nvPr/>
        </p:nvSpPr>
        <p:spPr>
          <a:xfrm>
            <a:off x="909836" y="5330231"/>
            <a:ext cx="1104131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Ambos os modelos erraram uma predição para a classe 1, que tem o menor Recall. O modelo com features extras escolheu a classe 0, e o sem features extras a classe 2. Isso ficará mais claro na matriz de confusão. 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F0564B2-2162-0C9C-2664-53AB7F48902D}"/>
              </a:ext>
            </a:extLst>
          </p:cNvPr>
          <p:cNvSpPr txBox="1"/>
          <p:nvPr/>
        </p:nvSpPr>
        <p:spPr>
          <a:xfrm>
            <a:off x="1773932" y="1017147"/>
            <a:ext cx="40084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Com features extras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291ED4F-EC8F-945F-6139-6D4A02B99A07}"/>
              </a:ext>
            </a:extLst>
          </p:cNvPr>
          <p:cNvSpPr txBox="1"/>
          <p:nvPr/>
        </p:nvSpPr>
        <p:spPr>
          <a:xfrm>
            <a:off x="7462564" y="956635"/>
            <a:ext cx="40084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Sem feature extra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0655F1D-FB10-5D18-A325-DADB1D563D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468" y="1602959"/>
            <a:ext cx="5176234" cy="2834153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3246206F-582D-2A58-3BBA-29863A1124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332" y="1602959"/>
            <a:ext cx="5135293" cy="2834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173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B4343-F3E0-D330-21E2-A2A5D0663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668F1CB5-2254-5E16-4C5D-4740AE7A2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852" y="116632"/>
            <a:ext cx="10297144" cy="647899"/>
          </a:xfrm>
        </p:spPr>
        <p:txBody>
          <a:bodyPr rtlCol="0"/>
          <a:lstStyle/>
          <a:p>
            <a:pPr algn="ctr" rtl="0"/>
            <a:r>
              <a:rPr lang="pt-br" dirty="0" err="1"/>
              <a:t>Wine</a:t>
            </a:r>
            <a:r>
              <a:rPr lang="pt-br" dirty="0"/>
              <a:t> </a:t>
            </a:r>
            <a:r>
              <a:rPr lang="pt-br" dirty="0" err="1"/>
              <a:t>Dataset</a:t>
            </a:r>
            <a:r>
              <a:rPr lang="pt-br" dirty="0"/>
              <a:t> </a:t>
            </a:r>
            <a:r>
              <a:rPr lang="pt-BR" dirty="0"/>
              <a:t>–</a:t>
            </a:r>
            <a:r>
              <a:rPr lang="pt-br" dirty="0"/>
              <a:t> SVM: Matriz de Confusão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B1DF8D3-9A71-7B4E-E48E-6296E2540121}"/>
              </a:ext>
            </a:extLst>
          </p:cNvPr>
          <p:cNvSpPr txBox="1"/>
          <p:nvPr/>
        </p:nvSpPr>
        <p:spPr>
          <a:xfrm>
            <a:off x="1147514" y="6218148"/>
            <a:ext cx="11041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Ilustração do erro mencionado anteriormente em ambos os modelos.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3EF7E02-8656-9B7D-C757-59B6120E5337}"/>
              </a:ext>
            </a:extLst>
          </p:cNvPr>
          <p:cNvSpPr txBox="1"/>
          <p:nvPr/>
        </p:nvSpPr>
        <p:spPr>
          <a:xfrm>
            <a:off x="1773932" y="1017147"/>
            <a:ext cx="40084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Com feature extra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9CE02FD-4FF2-4108-B6C3-E169CA2614B9}"/>
              </a:ext>
            </a:extLst>
          </p:cNvPr>
          <p:cNvSpPr txBox="1"/>
          <p:nvPr/>
        </p:nvSpPr>
        <p:spPr>
          <a:xfrm>
            <a:off x="7462564" y="956635"/>
            <a:ext cx="40084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Sem feature extra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E1BB06E-D287-0A47-70CE-AF617782B9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1394" y="1574506"/>
            <a:ext cx="4869602" cy="4221846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91E8BFA9-98EA-505E-70C9-FC996E82C6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852" y="1604989"/>
            <a:ext cx="4839119" cy="4191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935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BBEAD-98B1-2A00-A1FA-93FC89FD2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D1C206D3-B37F-F458-C829-570B3784A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852" y="116632"/>
            <a:ext cx="10297144" cy="647899"/>
          </a:xfrm>
        </p:spPr>
        <p:txBody>
          <a:bodyPr rtlCol="0"/>
          <a:lstStyle/>
          <a:p>
            <a:pPr algn="ctr" rtl="0"/>
            <a:r>
              <a:rPr lang="pt-br" dirty="0" err="1"/>
              <a:t>Wine</a:t>
            </a:r>
            <a:r>
              <a:rPr lang="pt-br" dirty="0"/>
              <a:t> </a:t>
            </a:r>
            <a:r>
              <a:rPr lang="pt-br" dirty="0" err="1"/>
              <a:t>Dataset</a:t>
            </a:r>
            <a:r>
              <a:rPr lang="pt-br" dirty="0"/>
              <a:t> </a:t>
            </a:r>
            <a:r>
              <a:rPr lang="pt-BR" dirty="0"/>
              <a:t>–</a:t>
            </a:r>
            <a:r>
              <a:rPr lang="pt-br" dirty="0"/>
              <a:t> Random Forest: </a:t>
            </a:r>
            <a:r>
              <a:rPr lang="pt-br" dirty="0" err="1"/>
              <a:t>Classification</a:t>
            </a:r>
            <a:r>
              <a:rPr lang="pt-br" dirty="0"/>
              <a:t> </a:t>
            </a:r>
            <a:r>
              <a:rPr lang="pt-br" dirty="0" err="1"/>
              <a:t>report</a:t>
            </a:r>
            <a:endParaRPr lang="pt-br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7FAEB12-D79D-853D-F01B-4E6B18DCB2A8}"/>
              </a:ext>
            </a:extLst>
          </p:cNvPr>
          <p:cNvSpPr txBox="1"/>
          <p:nvPr/>
        </p:nvSpPr>
        <p:spPr>
          <a:xfrm>
            <a:off x="909836" y="5330231"/>
            <a:ext cx="1104131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Inserir as features falhou em produzir um resultado aceitável, enquanto no </a:t>
            </a:r>
            <a:r>
              <a:rPr lang="pt-BR" sz="2800" dirty="0" err="1"/>
              <a:t>dataset</a:t>
            </a:r>
            <a:r>
              <a:rPr lang="pt-BR" sz="2800" dirty="0"/>
              <a:t> original temos um classificador perfeito. Até agora essa é a </a:t>
            </a:r>
            <a:r>
              <a:rPr lang="pt-BR" sz="2800" u="sng" dirty="0"/>
              <a:t>maior diferença de resultados entre modelos com e sem features extras</a:t>
            </a:r>
            <a:r>
              <a:rPr lang="pt-BR" sz="2800" dirty="0"/>
              <a:t>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565C39E-0CE6-1BA9-A3DE-4C43BCA93CE9}"/>
              </a:ext>
            </a:extLst>
          </p:cNvPr>
          <p:cNvSpPr txBox="1"/>
          <p:nvPr/>
        </p:nvSpPr>
        <p:spPr>
          <a:xfrm>
            <a:off x="1773932" y="1017147"/>
            <a:ext cx="40084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Com features extras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2B5BF39-F4E1-D290-7FB7-836C8CAFB492}"/>
              </a:ext>
            </a:extLst>
          </p:cNvPr>
          <p:cNvSpPr txBox="1"/>
          <p:nvPr/>
        </p:nvSpPr>
        <p:spPr>
          <a:xfrm>
            <a:off x="7462564" y="956635"/>
            <a:ext cx="40084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Sem feature extra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D052DBE-0813-3436-A668-0853AD42E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021" y="1792983"/>
            <a:ext cx="4885391" cy="2495236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551EDA4B-6260-08D0-0E34-E84A86FB0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2484" y="1806543"/>
            <a:ext cx="4919756" cy="248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719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E0B6B-E1C6-F3D9-1EE7-AB9E221CE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AA77EECF-AA61-7C66-EC04-585C45A99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852" y="116632"/>
            <a:ext cx="10297144" cy="647899"/>
          </a:xfrm>
        </p:spPr>
        <p:txBody>
          <a:bodyPr rtlCol="0"/>
          <a:lstStyle/>
          <a:p>
            <a:pPr algn="ctr" rtl="0"/>
            <a:r>
              <a:rPr lang="pt-br" dirty="0" err="1"/>
              <a:t>Wine</a:t>
            </a:r>
            <a:r>
              <a:rPr lang="pt-br" dirty="0"/>
              <a:t> </a:t>
            </a:r>
            <a:r>
              <a:rPr lang="pt-br" dirty="0" err="1"/>
              <a:t>Dataset</a:t>
            </a:r>
            <a:r>
              <a:rPr lang="pt-br" dirty="0"/>
              <a:t> </a:t>
            </a:r>
            <a:r>
              <a:rPr lang="pt-BR" dirty="0"/>
              <a:t>–</a:t>
            </a:r>
            <a:r>
              <a:rPr lang="pt-br" dirty="0"/>
              <a:t> Random Forest: Matriz de Confusão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EA6E05D-796D-EFD5-2E70-F77CA2C8D0FA}"/>
              </a:ext>
            </a:extLst>
          </p:cNvPr>
          <p:cNvSpPr txBox="1"/>
          <p:nvPr/>
        </p:nvSpPr>
        <p:spPr>
          <a:xfrm>
            <a:off x="909836" y="5330231"/>
            <a:ext cx="110413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Na matriz de confusão fica mais claro que o modelo com features extras está com sérios problemas de diferenciar as classes 1 e 2, provavelmente pelo baixo recall da classe 2 (0.36). Além disso, classificou erroneamente um item como classe 0.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FD55EFA-C728-C584-9373-E5D96C04FBFE}"/>
              </a:ext>
            </a:extLst>
          </p:cNvPr>
          <p:cNvSpPr txBox="1"/>
          <p:nvPr/>
        </p:nvSpPr>
        <p:spPr>
          <a:xfrm>
            <a:off x="1773932" y="1017147"/>
            <a:ext cx="40084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Com feature extra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6417B65-B82C-23EF-566A-F4DCAA567821}"/>
              </a:ext>
            </a:extLst>
          </p:cNvPr>
          <p:cNvSpPr txBox="1"/>
          <p:nvPr/>
        </p:nvSpPr>
        <p:spPr>
          <a:xfrm>
            <a:off x="7462564" y="956635"/>
            <a:ext cx="40084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Sem feature extra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BDECE9B-AF9C-BF7E-8153-190ED1B039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558" y="1497502"/>
            <a:ext cx="4801016" cy="3800883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D3C02946-3EBD-39FE-A35D-C9EDA0846A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0436" y="1529348"/>
            <a:ext cx="4831499" cy="3800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431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4E0F2-AB07-45E3-97DE-4886B8AC8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66F5EE6A-3CF8-6B22-D4B2-2BB99FC89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852" y="116632"/>
            <a:ext cx="10297144" cy="647899"/>
          </a:xfrm>
        </p:spPr>
        <p:txBody>
          <a:bodyPr rtlCol="0">
            <a:normAutofit/>
          </a:bodyPr>
          <a:lstStyle/>
          <a:p>
            <a:pPr algn="ctr" rtl="0"/>
            <a:r>
              <a:rPr lang="pt-br" dirty="0" err="1"/>
              <a:t>Wine</a:t>
            </a:r>
            <a:r>
              <a:rPr lang="pt-br" dirty="0"/>
              <a:t> </a:t>
            </a:r>
            <a:r>
              <a:rPr lang="pt-br" dirty="0" err="1"/>
              <a:t>Dataset</a:t>
            </a:r>
            <a:r>
              <a:rPr lang="pt-br" dirty="0"/>
              <a:t> </a:t>
            </a:r>
            <a:r>
              <a:rPr lang="pt-BR" dirty="0"/>
              <a:t>–</a:t>
            </a:r>
            <a:r>
              <a:rPr lang="pt-br" dirty="0"/>
              <a:t> SVM versus Random Forest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C348D90-D62D-13FA-6551-D8D88959E9D9}"/>
              </a:ext>
            </a:extLst>
          </p:cNvPr>
          <p:cNvSpPr txBox="1"/>
          <p:nvPr/>
        </p:nvSpPr>
        <p:spPr>
          <a:xfrm>
            <a:off x="909836" y="1443841"/>
            <a:ext cx="1116124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A Random Forest apresentou um classificador perfeito sem as features extra fruto da clusterização, e um resultado muito ruim com elas. No caso dos </a:t>
            </a:r>
            <a:r>
              <a:rPr lang="pt-BR" sz="2800" dirty="0" err="1"/>
              <a:t>SVMs</a:t>
            </a:r>
            <a:r>
              <a:rPr lang="pt-BR" sz="2800" dirty="0"/>
              <a:t>, o resultado foi bastante similar (muito bons).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O </a:t>
            </a:r>
            <a:r>
              <a:rPr lang="pt-BR" sz="2800" dirty="0" err="1"/>
              <a:t>GridSearch</a:t>
            </a:r>
            <a:r>
              <a:rPr lang="pt-BR" sz="2800" dirty="0"/>
              <a:t> produziu mudança nos parâmetros das Random </a:t>
            </a:r>
            <a:r>
              <a:rPr lang="pt-BR" sz="2800" dirty="0" err="1"/>
              <a:t>Forests</a:t>
            </a:r>
            <a:r>
              <a:rPr lang="pt-BR" sz="2800" dirty="0"/>
              <a:t> (</a:t>
            </a:r>
            <a:r>
              <a:rPr lang="pt-BR" sz="2800" dirty="0" err="1"/>
              <a:t>criterion</a:t>
            </a:r>
            <a:r>
              <a:rPr lang="pt-BR" sz="2800" dirty="0"/>
              <a:t> e profundidade), e nos dois modelos SVM a diferença foi o kernel.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Para este </a:t>
            </a:r>
            <a:r>
              <a:rPr lang="pt-BR" sz="2800" dirty="0" err="1"/>
              <a:t>Dataset</a:t>
            </a:r>
            <a:r>
              <a:rPr lang="pt-BR" sz="2800" dirty="0"/>
              <a:t>, diante dos resultados, é razoável assumir que a inserção das features extras não produziu efeito significativo para os </a:t>
            </a:r>
            <a:r>
              <a:rPr lang="pt-BR" sz="2800" dirty="0" err="1"/>
              <a:t>SVMs</a:t>
            </a:r>
            <a:r>
              <a:rPr lang="pt-BR" sz="2800" dirty="0"/>
              <a:t>, enquanto para as Random </a:t>
            </a:r>
            <a:r>
              <a:rPr lang="pt-BR" sz="2800" dirty="0" err="1"/>
              <a:t>Forests</a:t>
            </a:r>
            <a:r>
              <a:rPr lang="pt-BR" sz="2800" dirty="0"/>
              <a:t>, o efeito foi desastroso.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OBS: Diante deste resultado, não descarto a possibilidade de haver algum erro de Feature </a:t>
            </a:r>
            <a:r>
              <a:rPr lang="pt-BR" sz="2800" dirty="0" err="1"/>
              <a:t>Engineering</a:t>
            </a:r>
            <a:r>
              <a:rPr lang="pt-BR" sz="28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2103081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E7D6D-10AD-4E2D-53A8-772B16524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31ADDFD3-1C2E-2475-2402-9DE3B5DD9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852" y="116632"/>
            <a:ext cx="10297144" cy="647899"/>
          </a:xfrm>
        </p:spPr>
        <p:txBody>
          <a:bodyPr rtlCol="0"/>
          <a:lstStyle/>
          <a:p>
            <a:pPr algn="ctr" rtl="0"/>
            <a:r>
              <a:rPr lang="pt-br" dirty="0" err="1"/>
              <a:t>Breast</a:t>
            </a:r>
            <a:r>
              <a:rPr lang="pt-br" dirty="0"/>
              <a:t> </a:t>
            </a:r>
            <a:r>
              <a:rPr lang="pt-br" dirty="0" err="1"/>
              <a:t>Cancer</a:t>
            </a:r>
            <a:r>
              <a:rPr lang="pt-br" dirty="0"/>
              <a:t> </a:t>
            </a:r>
            <a:r>
              <a:rPr lang="pt-br" dirty="0" err="1"/>
              <a:t>Dataset</a:t>
            </a:r>
            <a:r>
              <a:rPr lang="pt-br" dirty="0"/>
              <a:t> - Clusterização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9D33E84-F243-B025-D8BF-4F74B93082B6}"/>
              </a:ext>
            </a:extLst>
          </p:cNvPr>
          <p:cNvSpPr txBox="1"/>
          <p:nvPr/>
        </p:nvSpPr>
        <p:spPr>
          <a:xfrm>
            <a:off x="909836" y="5330231"/>
            <a:ext cx="1104131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Tomaremos K=4 pois acima disso o índice silhueta cai muito, indicando que os clusters não tem boa definição.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FF5911E-DADA-CCAF-DDF1-93F1E818FB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923" y="921420"/>
            <a:ext cx="5464013" cy="4290432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F1AB8FF-8979-E850-50C8-A206F9A9FF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6460" y="932851"/>
            <a:ext cx="5540220" cy="4267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143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F9CE9-6B08-9099-B4D2-B8512204A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9A108515-769B-329E-ACB2-67F8675EF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852" y="116632"/>
            <a:ext cx="10297144" cy="647899"/>
          </a:xfrm>
        </p:spPr>
        <p:txBody>
          <a:bodyPr rtlCol="0">
            <a:noAutofit/>
          </a:bodyPr>
          <a:lstStyle/>
          <a:p>
            <a:pPr algn="ctr" rtl="0"/>
            <a:r>
              <a:rPr lang="pt-br" sz="2700" dirty="0" err="1"/>
              <a:t>Breast</a:t>
            </a:r>
            <a:r>
              <a:rPr lang="pt-br" sz="2700" dirty="0"/>
              <a:t> </a:t>
            </a:r>
            <a:r>
              <a:rPr lang="pt-br" sz="2700" dirty="0" err="1"/>
              <a:t>Cancer</a:t>
            </a:r>
            <a:r>
              <a:rPr lang="pt-br" sz="2700" dirty="0"/>
              <a:t> </a:t>
            </a:r>
            <a:r>
              <a:rPr lang="pt-br" sz="2700" dirty="0" err="1"/>
              <a:t>Dataset</a:t>
            </a:r>
            <a:r>
              <a:rPr lang="pt-br" sz="2700" dirty="0"/>
              <a:t> </a:t>
            </a:r>
            <a:r>
              <a:rPr lang="pt-BR" sz="2700" dirty="0"/>
              <a:t>–</a:t>
            </a:r>
            <a:r>
              <a:rPr lang="pt-br" sz="2700" dirty="0"/>
              <a:t> Resultado do </a:t>
            </a:r>
            <a:r>
              <a:rPr lang="pt-br" sz="2700" dirty="0" err="1"/>
              <a:t>GridSearch</a:t>
            </a:r>
            <a:r>
              <a:rPr lang="pt-br" sz="2700" dirty="0"/>
              <a:t> (</a:t>
            </a:r>
            <a:r>
              <a:rPr lang="pt-br" sz="2700" dirty="0" err="1"/>
              <a:t>Scoring</a:t>
            </a:r>
            <a:r>
              <a:rPr lang="pt-br" sz="2700" dirty="0"/>
              <a:t>= f1_macro)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E6224F5-1AC2-57EA-FDA6-5884E8BB7498}"/>
              </a:ext>
            </a:extLst>
          </p:cNvPr>
          <p:cNvSpPr txBox="1"/>
          <p:nvPr/>
        </p:nvSpPr>
        <p:spPr>
          <a:xfrm>
            <a:off x="909837" y="1124744"/>
            <a:ext cx="1116124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Cross </a:t>
            </a:r>
            <a:r>
              <a:rPr lang="pt-BR" sz="2800" dirty="0" err="1"/>
              <a:t>Validation</a:t>
            </a:r>
            <a:r>
              <a:rPr lang="pt-BR" sz="2800" dirty="0"/>
              <a:t> com 5 </a:t>
            </a:r>
            <a:r>
              <a:rPr lang="pt-BR" sz="2800" dirty="0" err="1"/>
              <a:t>folds</a:t>
            </a:r>
            <a:r>
              <a:rPr lang="pt-BR" sz="2800" dirty="0"/>
              <a:t> (cv=5)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Parâmetros para o SVM</a:t>
            </a:r>
          </a:p>
          <a:p>
            <a:pPr marL="1066693" lvl="1" indent="-457200">
              <a:buFont typeface="Arial" panose="020B0604020202020204" pitchFamily="34" charset="0"/>
              <a:buChar char="•"/>
            </a:pPr>
            <a:r>
              <a:rPr lang="pt-BR" sz="2800" dirty="0"/>
              <a:t>Com a feature extra: C=2.275, kernel </a:t>
            </a:r>
            <a:r>
              <a:rPr lang="pt-BR" sz="2800" dirty="0" err="1"/>
              <a:t>rbf</a:t>
            </a:r>
            <a:endParaRPr lang="pt-BR" sz="2800" dirty="0"/>
          </a:p>
          <a:p>
            <a:pPr marL="1066693" lvl="1" indent="-457200">
              <a:buFont typeface="Arial" panose="020B0604020202020204" pitchFamily="34" charset="0"/>
              <a:buChar char="•"/>
            </a:pPr>
            <a:r>
              <a:rPr lang="pt-BR" sz="2800" dirty="0"/>
              <a:t>Sem a feature extra: C=1.55, kernel </a:t>
            </a:r>
            <a:r>
              <a:rPr lang="pt-BR" sz="2800" dirty="0" err="1"/>
              <a:t>rbf</a:t>
            </a:r>
            <a:endParaRPr lang="pt-BR" sz="2800" dirty="0"/>
          </a:p>
          <a:p>
            <a:pPr marL="1066693" lvl="1" indent="-457200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1066693" lvl="1" indent="-457200">
              <a:buFont typeface="Arial" panose="020B0604020202020204" pitchFamily="34" charset="0"/>
              <a:buChar char="•"/>
            </a:pPr>
            <a:endParaRPr lang="pt-BR" sz="28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8083369-ACC8-BD01-6A69-CE07FC813C3F}"/>
              </a:ext>
            </a:extLst>
          </p:cNvPr>
          <p:cNvSpPr txBox="1"/>
          <p:nvPr/>
        </p:nvSpPr>
        <p:spPr>
          <a:xfrm>
            <a:off x="895844" y="2852936"/>
            <a:ext cx="1116124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Parâmetros para a Random Forest</a:t>
            </a:r>
          </a:p>
          <a:p>
            <a:pPr marL="1066693" lvl="1" indent="-457200">
              <a:buFont typeface="Arial" panose="020B0604020202020204" pitchFamily="34" charset="0"/>
              <a:buChar char="•"/>
            </a:pPr>
            <a:r>
              <a:rPr lang="pt-BR" sz="2800" dirty="0"/>
              <a:t>Com a feature extra: </a:t>
            </a:r>
            <a:r>
              <a:rPr lang="pt-BR" sz="2800" dirty="0" err="1"/>
              <a:t>Criterion</a:t>
            </a:r>
            <a:r>
              <a:rPr lang="pt-BR" sz="2800" dirty="0"/>
              <a:t>=“</a:t>
            </a:r>
            <a:r>
              <a:rPr lang="pt-BR" sz="2800" dirty="0" err="1"/>
              <a:t>log_loss</a:t>
            </a:r>
            <a:r>
              <a:rPr lang="pt-BR" sz="2800" dirty="0"/>
              <a:t>”, Profundidade=6</a:t>
            </a:r>
          </a:p>
          <a:p>
            <a:pPr marL="1066693" lvl="1" indent="-457200">
              <a:buFont typeface="Arial" panose="020B0604020202020204" pitchFamily="34" charset="0"/>
              <a:buChar char="•"/>
            </a:pPr>
            <a:r>
              <a:rPr lang="pt-BR" sz="2800" dirty="0"/>
              <a:t>Sem a feature extra: </a:t>
            </a:r>
            <a:r>
              <a:rPr lang="pt-BR" sz="2800" dirty="0" err="1"/>
              <a:t>Criterion</a:t>
            </a:r>
            <a:r>
              <a:rPr lang="pt-BR" sz="2800" dirty="0"/>
              <a:t>=“</a:t>
            </a:r>
            <a:r>
              <a:rPr lang="pt-BR" sz="2800" dirty="0" err="1"/>
              <a:t>gini</a:t>
            </a:r>
            <a:r>
              <a:rPr lang="pt-BR" sz="2800" dirty="0"/>
              <a:t>”, Profundidade=7</a:t>
            </a:r>
          </a:p>
          <a:p>
            <a:pPr marL="1066693" lvl="1" indent="-457200">
              <a:buFont typeface="Arial" panose="020B0604020202020204" pitchFamily="34" charset="0"/>
              <a:buChar char="•"/>
            </a:pP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107576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9F2F5-C442-E8E5-610B-E60B2197E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F7ACAE9A-4E33-C7AD-9DF1-F20A4687A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852" y="116632"/>
            <a:ext cx="10297144" cy="647899"/>
          </a:xfrm>
        </p:spPr>
        <p:txBody>
          <a:bodyPr rtlCol="0"/>
          <a:lstStyle/>
          <a:p>
            <a:pPr algn="ctr" rtl="0"/>
            <a:r>
              <a:rPr lang="pt-br" dirty="0" err="1"/>
              <a:t>Breast</a:t>
            </a:r>
            <a:r>
              <a:rPr lang="pt-br" dirty="0"/>
              <a:t> </a:t>
            </a:r>
            <a:r>
              <a:rPr lang="pt-br" dirty="0" err="1"/>
              <a:t>Cancer</a:t>
            </a:r>
            <a:r>
              <a:rPr lang="pt-br" dirty="0"/>
              <a:t> </a:t>
            </a:r>
            <a:r>
              <a:rPr lang="pt-br" dirty="0" err="1"/>
              <a:t>Dataset</a:t>
            </a:r>
            <a:r>
              <a:rPr lang="pt-br" dirty="0"/>
              <a:t> </a:t>
            </a:r>
            <a:r>
              <a:rPr lang="pt-BR" dirty="0"/>
              <a:t>–</a:t>
            </a:r>
            <a:r>
              <a:rPr lang="pt-br" dirty="0"/>
              <a:t> SVM: </a:t>
            </a:r>
            <a:r>
              <a:rPr lang="pt-br" dirty="0" err="1"/>
              <a:t>Classification</a:t>
            </a:r>
            <a:r>
              <a:rPr lang="pt-br" dirty="0"/>
              <a:t> </a:t>
            </a:r>
            <a:r>
              <a:rPr lang="pt-br" dirty="0" err="1"/>
              <a:t>report</a:t>
            </a:r>
            <a:endParaRPr lang="pt-br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8C1A1A7-157C-F78A-F43E-5C515D8ACC74}"/>
              </a:ext>
            </a:extLst>
          </p:cNvPr>
          <p:cNvSpPr txBox="1"/>
          <p:nvPr/>
        </p:nvSpPr>
        <p:spPr>
          <a:xfrm>
            <a:off x="909836" y="5330231"/>
            <a:ext cx="1104131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Inserir as features extras falhou em produzir um resultado melhor, apresentando inclusive um resultado pior na maioria dos números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BE06AAD-5D7C-8E48-3252-51BD6D359A38}"/>
              </a:ext>
            </a:extLst>
          </p:cNvPr>
          <p:cNvSpPr txBox="1"/>
          <p:nvPr/>
        </p:nvSpPr>
        <p:spPr>
          <a:xfrm>
            <a:off x="1773932" y="1017147"/>
            <a:ext cx="40084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Com features extras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7A43DC3-84FC-AF39-D98A-322572367E11}"/>
              </a:ext>
            </a:extLst>
          </p:cNvPr>
          <p:cNvSpPr txBox="1"/>
          <p:nvPr/>
        </p:nvSpPr>
        <p:spPr>
          <a:xfrm>
            <a:off x="7462564" y="956635"/>
            <a:ext cx="40084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Sem feature extra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FB8ACE7-6A69-55BB-4148-6D0EE1239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966" y="1592260"/>
            <a:ext cx="5308432" cy="270083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4E8AF574-C741-5F61-FF1B-836E983A01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6460" y="1592260"/>
            <a:ext cx="5245953" cy="2700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350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22F16-EFFD-B93A-0168-03A026F62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EC8CDE96-4260-5611-C66C-2F474E3CE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852" y="116632"/>
            <a:ext cx="10297144" cy="647899"/>
          </a:xfrm>
        </p:spPr>
        <p:txBody>
          <a:bodyPr rtlCol="0"/>
          <a:lstStyle/>
          <a:p>
            <a:pPr algn="ctr" rtl="0"/>
            <a:r>
              <a:rPr lang="pt-br" dirty="0" err="1"/>
              <a:t>Breast</a:t>
            </a:r>
            <a:r>
              <a:rPr lang="pt-br" dirty="0"/>
              <a:t> </a:t>
            </a:r>
            <a:r>
              <a:rPr lang="pt-br" dirty="0" err="1"/>
              <a:t>Cancer</a:t>
            </a:r>
            <a:r>
              <a:rPr lang="pt-br" dirty="0"/>
              <a:t> </a:t>
            </a:r>
            <a:r>
              <a:rPr lang="pt-br" dirty="0" err="1"/>
              <a:t>Dataset</a:t>
            </a:r>
            <a:r>
              <a:rPr lang="pt-br" dirty="0"/>
              <a:t> </a:t>
            </a:r>
            <a:r>
              <a:rPr lang="pt-BR" dirty="0"/>
              <a:t>–</a:t>
            </a:r>
            <a:r>
              <a:rPr lang="pt-br" dirty="0"/>
              <a:t> SVM: Matriz de Confusão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8458533-5EDD-BDDE-CDDD-B7EB87428378}"/>
              </a:ext>
            </a:extLst>
          </p:cNvPr>
          <p:cNvSpPr txBox="1"/>
          <p:nvPr/>
        </p:nvSpPr>
        <p:spPr>
          <a:xfrm>
            <a:off x="1147514" y="6218148"/>
            <a:ext cx="1104131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700" dirty="0"/>
              <a:t>Observamos que o modelo sem features extras tem mais </a:t>
            </a:r>
            <a:r>
              <a:rPr lang="pt-BR" sz="2700" dirty="0" err="1"/>
              <a:t>TPs</a:t>
            </a:r>
            <a:r>
              <a:rPr lang="pt-BR" sz="2700" dirty="0"/>
              <a:t> para a classe 1.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D7C2156-EC13-61EA-17BF-DE88EF07050D}"/>
              </a:ext>
            </a:extLst>
          </p:cNvPr>
          <p:cNvSpPr txBox="1"/>
          <p:nvPr/>
        </p:nvSpPr>
        <p:spPr>
          <a:xfrm>
            <a:off x="1773932" y="1017147"/>
            <a:ext cx="40084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Com feature extra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9CA9AE9-4E72-BC4B-DE67-BF4C4AE85FAC}"/>
              </a:ext>
            </a:extLst>
          </p:cNvPr>
          <p:cNvSpPr txBox="1"/>
          <p:nvPr/>
        </p:nvSpPr>
        <p:spPr>
          <a:xfrm>
            <a:off x="7462564" y="956635"/>
            <a:ext cx="40084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Sem feature extra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3DF006C-F62E-6C87-FEA6-62BEA6358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852" y="1535180"/>
            <a:ext cx="5090569" cy="4558116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6C65206-A172-51C8-C024-F61B2552EF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6406" y="1535180"/>
            <a:ext cx="5150184" cy="4558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659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89E8D-3635-870A-AFCC-C53A6B005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2F863FA4-594C-FD27-27AD-53FDFED8E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852" y="116632"/>
            <a:ext cx="10297144" cy="647899"/>
          </a:xfrm>
        </p:spPr>
        <p:txBody>
          <a:bodyPr rtlCol="0"/>
          <a:lstStyle/>
          <a:p>
            <a:pPr algn="ctr" rtl="0"/>
            <a:r>
              <a:rPr lang="pt-br" dirty="0" err="1"/>
              <a:t>Breast</a:t>
            </a:r>
            <a:r>
              <a:rPr lang="pt-br" dirty="0"/>
              <a:t> </a:t>
            </a:r>
            <a:r>
              <a:rPr lang="pt-br" dirty="0" err="1"/>
              <a:t>Cancer</a:t>
            </a:r>
            <a:r>
              <a:rPr lang="pt-br" dirty="0"/>
              <a:t> </a:t>
            </a:r>
            <a:r>
              <a:rPr lang="pt-br" dirty="0" err="1"/>
              <a:t>Dataset</a:t>
            </a:r>
            <a:r>
              <a:rPr lang="pt-br" dirty="0"/>
              <a:t> </a:t>
            </a:r>
            <a:r>
              <a:rPr lang="pt-BR" dirty="0"/>
              <a:t>–</a:t>
            </a:r>
            <a:r>
              <a:rPr lang="pt-br" dirty="0"/>
              <a:t> SVM: Curva ROC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FC1A140-966F-AE9D-C2CE-E07531F66B05}"/>
              </a:ext>
            </a:extLst>
          </p:cNvPr>
          <p:cNvSpPr txBox="1"/>
          <p:nvPr/>
        </p:nvSpPr>
        <p:spPr>
          <a:xfrm>
            <a:off x="1147514" y="6218148"/>
            <a:ext cx="1104131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700" dirty="0"/>
              <a:t>O modelo sem features extras possui AUC 0.01 maior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21FB4DB-E966-2DBB-CC14-3137FE534423}"/>
              </a:ext>
            </a:extLst>
          </p:cNvPr>
          <p:cNvSpPr txBox="1"/>
          <p:nvPr/>
        </p:nvSpPr>
        <p:spPr>
          <a:xfrm>
            <a:off x="1773932" y="1017147"/>
            <a:ext cx="40084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Com feature extra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7AD7953-183A-9305-3DA4-B82B8FE9F831}"/>
              </a:ext>
            </a:extLst>
          </p:cNvPr>
          <p:cNvSpPr txBox="1"/>
          <p:nvPr/>
        </p:nvSpPr>
        <p:spPr>
          <a:xfrm>
            <a:off x="7462564" y="956635"/>
            <a:ext cx="40084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Sem feature extra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1A814A7-CB23-3ABE-5CD6-C05730E1DF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14" y="1550421"/>
            <a:ext cx="4320914" cy="4290432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DC972806-E01E-6E3C-4700-605AAAEE61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2975" y="1528670"/>
            <a:ext cx="4305673" cy="4259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37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0E7CB-43C7-D406-71E4-6B9986D08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3BB09ED3-5642-C8E4-8EE6-BDADB233B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852" y="116632"/>
            <a:ext cx="10297144" cy="647899"/>
          </a:xfrm>
        </p:spPr>
        <p:txBody>
          <a:bodyPr rtlCol="0"/>
          <a:lstStyle/>
          <a:p>
            <a:pPr algn="ctr" rtl="0"/>
            <a:r>
              <a:rPr lang="pt-br" dirty="0" err="1"/>
              <a:t>Breast</a:t>
            </a:r>
            <a:r>
              <a:rPr lang="pt-br" dirty="0"/>
              <a:t> </a:t>
            </a:r>
            <a:r>
              <a:rPr lang="pt-br" dirty="0" err="1"/>
              <a:t>Cancer</a:t>
            </a:r>
            <a:r>
              <a:rPr lang="pt-br" dirty="0"/>
              <a:t> </a:t>
            </a:r>
            <a:r>
              <a:rPr lang="pt-br" dirty="0" err="1"/>
              <a:t>Dataset</a:t>
            </a:r>
            <a:r>
              <a:rPr lang="pt-br" dirty="0"/>
              <a:t> </a:t>
            </a:r>
            <a:r>
              <a:rPr lang="pt-BR" dirty="0"/>
              <a:t>–</a:t>
            </a:r>
            <a:r>
              <a:rPr lang="pt-br" dirty="0"/>
              <a:t> SVM: </a:t>
            </a:r>
            <a:r>
              <a:rPr lang="pt-br" dirty="0" err="1"/>
              <a:t>Precision</a:t>
            </a:r>
            <a:r>
              <a:rPr lang="pt-br" dirty="0"/>
              <a:t>-Recall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7CA88F2-C4B1-502E-2B06-C593FA947AF7}"/>
              </a:ext>
            </a:extLst>
          </p:cNvPr>
          <p:cNvSpPr txBox="1"/>
          <p:nvPr/>
        </p:nvSpPr>
        <p:spPr>
          <a:xfrm>
            <a:off x="1147514" y="6218148"/>
            <a:ext cx="1104131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700" dirty="0"/>
              <a:t>A curva </a:t>
            </a:r>
            <a:r>
              <a:rPr lang="pt-BR" sz="2700" dirty="0" err="1"/>
              <a:t>Precision</a:t>
            </a:r>
            <a:r>
              <a:rPr lang="pt-BR" sz="2700" dirty="0"/>
              <a:t>-Recall confirma a superioridade do modelo sem features.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7FA3B70-E5CF-6E3C-431D-542F49CFE97C}"/>
              </a:ext>
            </a:extLst>
          </p:cNvPr>
          <p:cNvSpPr txBox="1"/>
          <p:nvPr/>
        </p:nvSpPr>
        <p:spPr>
          <a:xfrm>
            <a:off x="1773932" y="1017147"/>
            <a:ext cx="40084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Com feature extra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CFBE1E2-3105-2A12-047C-5979B451724D}"/>
              </a:ext>
            </a:extLst>
          </p:cNvPr>
          <p:cNvSpPr txBox="1"/>
          <p:nvPr/>
        </p:nvSpPr>
        <p:spPr>
          <a:xfrm>
            <a:off x="7462564" y="956635"/>
            <a:ext cx="40084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Sem feature extra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8996114-84B7-8130-0F10-CF2E399F0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852" y="1563829"/>
            <a:ext cx="4282811" cy="432853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F87BD9AB-847A-C5BB-1332-E847521B0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6460" y="1563829"/>
            <a:ext cx="4305673" cy="4328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188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31A52-098F-D51E-228E-92D83EEF2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735235FF-306F-D156-B982-EB65A499A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852" y="116632"/>
            <a:ext cx="10297144" cy="647899"/>
          </a:xfrm>
        </p:spPr>
        <p:txBody>
          <a:bodyPr rtlCol="0">
            <a:normAutofit fontScale="90000"/>
          </a:bodyPr>
          <a:lstStyle/>
          <a:p>
            <a:pPr algn="ctr" rtl="0"/>
            <a:r>
              <a:rPr lang="pt-br" dirty="0" err="1"/>
              <a:t>Breast</a:t>
            </a:r>
            <a:r>
              <a:rPr lang="pt-br" dirty="0"/>
              <a:t> </a:t>
            </a:r>
            <a:r>
              <a:rPr lang="pt-br" dirty="0" err="1"/>
              <a:t>Cancer</a:t>
            </a:r>
            <a:r>
              <a:rPr lang="pt-br" dirty="0"/>
              <a:t> </a:t>
            </a:r>
            <a:r>
              <a:rPr lang="pt-br" dirty="0" err="1"/>
              <a:t>Dataset</a:t>
            </a:r>
            <a:r>
              <a:rPr lang="pt-br" dirty="0"/>
              <a:t> </a:t>
            </a:r>
            <a:r>
              <a:rPr lang="pt-BR" dirty="0"/>
              <a:t>–</a:t>
            </a:r>
            <a:r>
              <a:rPr lang="pt-br" dirty="0"/>
              <a:t> Random Forest: </a:t>
            </a:r>
            <a:r>
              <a:rPr lang="pt-br" dirty="0" err="1"/>
              <a:t>Classification</a:t>
            </a:r>
            <a:r>
              <a:rPr lang="pt-br" dirty="0"/>
              <a:t> </a:t>
            </a:r>
            <a:r>
              <a:rPr lang="pt-br" dirty="0" err="1"/>
              <a:t>report</a:t>
            </a:r>
            <a:endParaRPr lang="pt-br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7D7512A-E362-53AF-ECF3-B27F3D2F4544}"/>
              </a:ext>
            </a:extLst>
          </p:cNvPr>
          <p:cNvSpPr txBox="1"/>
          <p:nvPr/>
        </p:nvSpPr>
        <p:spPr>
          <a:xfrm>
            <a:off x="909836" y="5330231"/>
            <a:ext cx="1104131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Assim como no caso dos </a:t>
            </a:r>
            <a:r>
              <a:rPr lang="pt-BR" sz="2800" dirty="0" err="1"/>
              <a:t>SVMs</a:t>
            </a:r>
            <a:r>
              <a:rPr lang="pt-BR" sz="2800" dirty="0"/>
              <a:t>, a Random Forest com features extras piorou os números do </a:t>
            </a:r>
            <a:r>
              <a:rPr lang="pt-BR" sz="2800" dirty="0" err="1"/>
              <a:t>report</a:t>
            </a:r>
            <a:r>
              <a:rPr lang="pt-BR" sz="2800" dirty="0"/>
              <a:t>, ainda que ligeiramente.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DC39A09-BBFA-DD12-93A9-AFC7285C37F0}"/>
              </a:ext>
            </a:extLst>
          </p:cNvPr>
          <p:cNvSpPr txBox="1"/>
          <p:nvPr/>
        </p:nvSpPr>
        <p:spPr>
          <a:xfrm>
            <a:off x="1773932" y="1017147"/>
            <a:ext cx="40084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Com features extras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336A235-5184-62C2-79F0-221F88AD9C00}"/>
              </a:ext>
            </a:extLst>
          </p:cNvPr>
          <p:cNvSpPr txBox="1"/>
          <p:nvPr/>
        </p:nvSpPr>
        <p:spPr>
          <a:xfrm>
            <a:off x="7462564" y="956635"/>
            <a:ext cx="40084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Sem feature extra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815F515-211D-E490-F97F-CBFC1FFD51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468" y="1592982"/>
            <a:ext cx="5165086" cy="2556097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88FC2581-00CA-7249-B9E3-D099C61A68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426" y="1573092"/>
            <a:ext cx="5134522" cy="2575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954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59EC5-3C03-602D-069E-54CED2C0D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5712E679-9E88-6423-DC8F-6D0A66B3F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852" y="116632"/>
            <a:ext cx="10297144" cy="647899"/>
          </a:xfrm>
        </p:spPr>
        <p:txBody>
          <a:bodyPr rtlCol="0">
            <a:normAutofit fontScale="90000"/>
          </a:bodyPr>
          <a:lstStyle/>
          <a:p>
            <a:pPr algn="ctr" rtl="0"/>
            <a:r>
              <a:rPr lang="pt-br" dirty="0" err="1"/>
              <a:t>Breast</a:t>
            </a:r>
            <a:r>
              <a:rPr lang="pt-br" dirty="0"/>
              <a:t> </a:t>
            </a:r>
            <a:r>
              <a:rPr lang="pt-br" dirty="0" err="1"/>
              <a:t>Cancer</a:t>
            </a:r>
            <a:r>
              <a:rPr lang="pt-br" dirty="0"/>
              <a:t> </a:t>
            </a:r>
            <a:r>
              <a:rPr lang="pt-br" dirty="0" err="1"/>
              <a:t>Dataset</a:t>
            </a:r>
            <a:r>
              <a:rPr lang="pt-br" dirty="0"/>
              <a:t> </a:t>
            </a:r>
            <a:r>
              <a:rPr lang="pt-BR" dirty="0"/>
              <a:t>–</a:t>
            </a:r>
            <a:r>
              <a:rPr lang="pt-br" dirty="0"/>
              <a:t> Random Forest: Matriz de Confusão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4BB7B35-8D49-0342-BE09-975F9896C118}"/>
              </a:ext>
            </a:extLst>
          </p:cNvPr>
          <p:cNvSpPr txBox="1"/>
          <p:nvPr/>
        </p:nvSpPr>
        <p:spPr>
          <a:xfrm>
            <a:off x="1182775" y="5840853"/>
            <a:ext cx="11041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A Random Forest sem features extras possui mais </a:t>
            </a:r>
            <a:r>
              <a:rPr lang="pt-BR" sz="2800" dirty="0" err="1"/>
              <a:t>TPs</a:t>
            </a:r>
            <a:r>
              <a:rPr lang="pt-BR" sz="2800" dirty="0"/>
              <a:t> e </a:t>
            </a:r>
            <a:r>
              <a:rPr lang="pt-BR" sz="2800" dirty="0" err="1"/>
              <a:t>TNs</a:t>
            </a:r>
            <a:r>
              <a:rPr lang="pt-BR" sz="2800" dirty="0"/>
              <a:t>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B63BDF6-61E1-5CDA-F716-4BB308B444DB}"/>
              </a:ext>
            </a:extLst>
          </p:cNvPr>
          <p:cNvSpPr txBox="1"/>
          <p:nvPr/>
        </p:nvSpPr>
        <p:spPr>
          <a:xfrm>
            <a:off x="1773932" y="1017147"/>
            <a:ext cx="40084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Com feature extra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DC13DC8-7ECB-8906-3DB2-58F2438B9919}"/>
              </a:ext>
            </a:extLst>
          </p:cNvPr>
          <p:cNvSpPr txBox="1"/>
          <p:nvPr/>
        </p:nvSpPr>
        <p:spPr>
          <a:xfrm>
            <a:off x="7462564" y="956635"/>
            <a:ext cx="40084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Sem feature extra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7086D66-C001-479A-F290-FD058A4E1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6406" y="1483236"/>
            <a:ext cx="5295874" cy="4106004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071E313A-6AE4-E79B-317B-5065423CC0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242" y="1460653"/>
            <a:ext cx="5368230" cy="4128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323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33ED3-3F22-BC62-944C-385C83CE3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D3DB74F7-0973-2924-78D1-1FF840CA1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852" y="116632"/>
            <a:ext cx="10297144" cy="647899"/>
          </a:xfrm>
        </p:spPr>
        <p:txBody>
          <a:bodyPr rtlCol="0">
            <a:normAutofit/>
          </a:bodyPr>
          <a:lstStyle/>
          <a:p>
            <a:pPr algn="ctr" rtl="0"/>
            <a:r>
              <a:rPr lang="pt-br" dirty="0" err="1"/>
              <a:t>Breast</a:t>
            </a:r>
            <a:r>
              <a:rPr lang="pt-br" dirty="0"/>
              <a:t> </a:t>
            </a:r>
            <a:r>
              <a:rPr lang="pt-br" dirty="0" err="1"/>
              <a:t>Cancer</a:t>
            </a:r>
            <a:r>
              <a:rPr lang="pt-br" dirty="0"/>
              <a:t> </a:t>
            </a:r>
            <a:r>
              <a:rPr lang="pt-br" dirty="0" err="1"/>
              <a:t>Dataset</a:t>
            </a:r>
            <a:r>
              <a:rPr lang="pt-br" dirty="0"/>
              <a:t> </a:t>
            </a:r>
            <a:r>
              <a:rPr lang="pt-BR" dirty="0"/>
              <a:t>–</a:t>
            </a:r>
            <a:r>
              <a:rPr lang="pt-br" dirty="0"/>
              <a:t> Random Forest: Curva ROC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4A03E88-D6FA-CF5A-F55C-5DDB2940B48F}"/>
              </a:ext>
            </a:extLst>
          </p:cNvPr>
          <p:cNvSpPr txBox="1"/>
          <p:nvPr/>
        </p:nvSpPr>
        <p:spPr>
          <a:xfrm>
            <a:off x="1809193" y="6175518"/>
            <a:ext cx="11041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O modelo sem features extras possui AUC 0.02 maior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47D621E-0836-3A4C-C6E9-79972AAE5AE9}"/>
              </a:ext>
            </a:extLst>
          </p:cNvPr>
          <p:cNvSpPr txBox="1"/>
          <p:nvPr/>
        </p:nvSpPr>
        <p:spPr>
          <a:xfrm>
            <a:off x="1773932" y="1017147"/>
            <a:ext cx="40084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Com feature extra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510D7A76-BE61-9B3E-A9B0-32AF11551E35}"/>
              </a:ext>
            </a:extLst>
          </p:cNvPr>
          <p:cNvSpPr txBox="1"/>
          <p:nvPr/>
        </p:nvSpPr>
        <p:spPr>
          <a:xfrm>
            <a:off x="7462564" y="956635"/>
            <a:ext cx="40084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Sem feature extra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303B586-6724-D415-CA8E-66AEEEE80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2484" y="1479855"/>
            <a:ext cx="4728568" cy="463005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857379F9-E925-035B-7B81-3760EB92D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852" y="1479855"/>
            <a:ext cx="5040560" cy="4650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195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1B37C-0163-AF25-B95C-D69D5B418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34AC5A76-659E-6A94-3BC3-18231C175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852" y="116632"/>
            <a:ext cx="10297144" cy="647899"/>
          </a:xfrm>
        </p:spPr>
        <p:txBody>
          <a:bodyPr rtlCol="0">
            <a:normAutofit fontScale="90000"/>
          </a:bodyPr>
          <a:lstStyle/>
          <a:p>
            <a:pPr algn="ctr" rtl="0"/>
            <a:r>
              <a:rPr lang="pt-br" dirty="0" err="1"/>
              <a:t>Breast</a:t>
            </a:r>
            <a:r>
              <a:rPr lang="pt-br" dirty="0"/>
              <a:t> </a:t>
            </a:r>
            <a:r>
              <a:rPr lang="pt-br" dirty="0" err="1"/>
              <a:t>Cancer</a:t>
            </a:r>
            <a:r>
              <a:rPr lang="pt-br" dirty="0"/>
              <a:t> </a:t>
            </a:r>
            <a:r>
              <a:rPr lang="pt-br" dirty="0" err="1"/>
              <a:t>Dataset</a:t>
            </a:r>
            <a:r>
              <a:rPr lang="pt-br" dirty="0"/>
              <a:t> </a:t>
            </a:r>
            <a:r>
              <a:rPr lang="pt-BR" dirty="0"/>
              <a:t>–</a:t>
            </a:r>
            <a:r>
              <a:rPr lang="pt-br" dirty="0"/>
              <a:t> Random Forest: </a:t>
            </a:r>
            <a:r>
              <a:rPr lang="pt-br" dirty="0" err="1"/>
              <a:t>Precision</a:t>
            </a:r>
            <a:r>
              <a:rPr lang="pt-br" dirty="0"/>
              <a:t>-Recall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384F361-CF2A-68D6-073E-96CF8D52CB0C}"/>
              </a:ext>
            </a:extLst>
          </p:cNvPr>
          <p:cNvSpPr txBox="1"/>
          <p:nvPr/>
        </p:nvSpPr>
        <p:spPr>
          <a:xfrm>
            <a:off x="1147514" y="5901230"/>
            <a:ext cx="11041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A curva </a:t>
            </a:r>
            <a:r>
              <a:rPr lang="pt-BR" sz="2800" dirty="0" err="1"/>
              <a:t>Precision</a:t>
            </a:r>
            <a:r>
              <a:rPr lang="pt-BR" sz="2800" dirty="0"/>
              <a:t>-Recall confirma a superioridade do modelo sem features.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13BD41F-9377-CBF1-1B2A-37921759E7F1}"/>
              </a:ext>
            </a:extLst>
          </p:cNvPr>
          <p:cNvSpPr txBox="1"/>
          <p:nvPr/>
        </p:nvSpPr>
        <p:spPr>
          <a:xfrm>
            <a:off x="1773932" y="1017147"/>
            <a:ext cx="40084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Com feature extra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A1AAE46-D970-632B-8AB4-89DD5A172EF8}"/>
              </a:ext>
            </a:extLst>
          </p:cNvPr>
          <p:cNvSpPr txBox="1"/>
          <p:nvPr/>
        </p:nvSpPr>
        <p:spPr>
          <a:xfrm>
            <a:off x="7462564" y="956635"/>
            <a:ext cx="40084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Sem feature extra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5E16BFC-8A99-01DF-78F4-C44742D1C3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6460" y="1479855"/>
            <a:ext cx="4397121" cy="4282811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A14A1436-D7B5-4FCD-921D-449B7557FC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5244" y="1438439"/>
            <a:ext cx="4625741" cy="432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388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95F51-B337-9B8E-7E16-859FC8828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1A255E8B-F180-BBAA-032A-AB1A800CB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852" y="116632"/>
            <a:ext cx="10297144" cy="647899"/>
          </a:xfrm>
        </p:spPr>
        <p:txBody>
          <a:bodyPr rtlCol="0">
            <a:normAutofit/>
          </a:bodyPr>
          <a:lstStyle/>
          <a:p>
            <a:pPr algn="ctr" rtl="0"/>
            <a:r>
              <a:rPr lang="pt-br" dirty="0" err="1"/>
              <a:t>Breast</a:t>
            </a:r>
            <a:r>
              <a:rPr lang="pt-br" dirty="0"/>
              <a:t> </a:t>
            </a:r>
            <a:r>
              <a:rPr lang="pt-br" dirty="0" err="1"/>
              <a:t>Cancer</a:t>
            </a:r>
            <a:r>
              <a:rPr lang="pt-br" dirty="0"/>
              <a:t> </a:t>
            </a:r>
            <a:r>
              <a:rPr lang="pt-br" dirty="0" err="1"/>
              <a:t>Dataset</a:t>
            </a:r>
            <a:r>
              <a:rPr lang="pt-br" dirty="0"/>
              <a:t> </a:t>
            </a:r>
            <a:r>
              <a:rPr lang="pt-BR" dirty="0"/>
              <a:t>–</a:t>
            </a:r>
            <a:r>
              <a:rPr lang="pt-br" dirty="0"/>
              <a:t> SVM versus Random Forest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D297BC8-E9E0-0636-FAA6-314F81393BA8}"/>
              </a:ext>
            </a:extLst>
          </p:cNvPr>
          <p:cNvSpPr txBox="1"/>
          <p:nvPr/>
        </p:nvSpPr>
        <p:spPr>
          <a:xfrm>
            <a:off x="909836" y="1443841"/>
            <a:ext cx="1116124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A Random Forest quanto o SVM produziram resultados bons, porém melhores sem as features extras.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O </a:t>
            </a:r>
            <a:r>
              <a:rPr lang="pt-BR" sz="2800" dirty="0" err="1"/>
              <a:t>GridSearch</a:t>
            </a:r>
            <a:r>
              <a:rPr lang="pt-BR" sz="2800" dirty="0"/>
              <a:t> apresentou diferença no parâmetro C dos </a:t>
            </a:r>
            <a:r>
              <a:rPr lang="pt-BR" sz="2800" dirty="0" err="1"/>
              <a:t>SMVs</a:t>
            </a:r>
            <a:r>
              <a:rPr lang="pt-BR" sz="2800" dirty="0"/>
              <a:t>. No caso das Random </a:t>
            </a:r>
            <a:r>
              <a:rPr lang="pt-BR" sz="2800" dirty="0" err="1"/>
              <a:t>Forests</a:t>
            </a:r>
            <a:r>
              <a:rPr lang="pt-BR" sz="2800" dirty="0"/>
              <a:t>,  “</a:t>
            </a:r>
            <a:r>
              <a:rPr lang="pt-BR" sz="2800" dirty="0" err="1"/>
              <a:t>criterion</a:t>
            </a:r>
            <a:r>
              <a:rPr lang="pt-BR" sz="2800" dirty="0"/>
              <a:t>” e profundidades diferentes.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As figuras de mérito Curva ROC e </a:t>
            </a:r>
            <a:r>
              <a:rPr lang="pt-BR" sz="2800" dirty="0" err="1"/>
              <a:t>Precision</a:t>
            </a:r>
            <a:r>
              <a:rPr lang="pt-BR" sz="2800" dirty="0"/>
              <a:t>-recall ilustram a superioridade dos modelos sem as features extras, tendo sempre maiores áreas abaixo das curvas, apesar do formato similar.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Para este </a:t>
            </a:r>
            <a:r>
              <a:rPr lang="pt-BR" sz="2800" dirty="0" err="1"/>
              <a:t>Dataset</a:t>
            </a:r>
            <a:r>
              <a:rPr lang="pt-BR" sz="2800" dirty="0"/>
              <a:t>, é razoável assumir que a inserção das features extras produziu uma ligeira queda na performance dos modelos.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2953477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8CE39-F4D0-A1B2-7FED-FF7BA05B3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3DD61DE8-C8F2-9C8D-3677-6241483FC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852" y="116632"/>
            <a:ext cx="10297144" cy="647899"/>
          </a:xfrm>
        </p:spPr>
        <p:txBody>
          <a:bodyPr rtlCol="0">
            <a:normAutofit/>
          </a:bodyPr>
          <a:lstStyle/>
          <a:p>
            <a:pPr algn="ctr" rtl="0"/>
            <a:r>
              <a:rPr lang="pt-BR" dirty="0"/>
              <a:t>CONSIDERAÇÕES FINAIS SOBRE O TRABALHO</a:t>
            </a:r>
            <a:endParaRPr lang="pt-br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0A3A222-2FB4-FE0E-BAF1-07F570D2727F}"/>
              </a:ext>
            </a:extLst>
          </p:cNvPr>
          <p:cNvSpPr txBox="1"/>
          <p:nvPr/>
        </p:nvSpPr>
        <p:spPr>
          <a:xfrm>
            <a:off x="909836" y="1443841"/>
            <a:ext cx="1116124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Durante a elaboração do trabalho, eu achei estranho os modelos com features extras produzirem resultados inferiores. Não descarto a possibilidade de haver algum erro de feature </a:t>
            </a:r>
            <a:r>
              <a:rPr lang="pt-BR" sz="2800" dirty="0" err="1"/>
              <a:t>engineering</a:t>
            </a:r>
            <a:r>
              <a:rPr lang="pt-BR" sz="2800" dirty="0"/>
              <a:t> na elaboração destas features.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GitHub: </a:t>
            </a:r>
            <a:r>
              <a:rPr lang="pt-BR" sz="2800" dirty="0" err="1">
                <a:hlinkClick r:id="rId2"/>
              </a:rPr>
              <a:t>Dev</a:t>
            </a:r>
            <a:r>
              <a:rPr lang="pt-BR" sz="2800" dirty="0">
                <a:hlinkClick r:id="rId2"/>
              </a:rPr>
              <a:t>-RMV/</a:t>
            </a:r>
            <a:r>
              <a:rPr lang="pt-BR" sz="2800" dirty="0" err="1">
                <a:hlinkClick r:id="rId2"/>
              </a:rPr>
              <a:t>Clube_Algoritmos</a:t>
            </a:r>
            <a:endParaRPr lang="pt-BR" sz="2800" dirty="0"/>
          </a:p>
        </p:txBody>
      </p:sp>
      <p:sp>
        <p:nvSpPr>
          <p:cNvPr id="2" name="Título 6">
            <a:extLst>
              <a:ext uri="{FF2B5EF4-FFF2-40B4-BE49-F238E27FC236}">
                <a16:creationId xmlns:a16="http://schemas.microsoft.com/office/drawing/2014/main" id="{BC71E1A9-162A-5679-B0E8-ECC79DAAC9DD}"/>
              </a:ext>
            </a:extLst>
          </p:cNvPr>
          <p:cNvSpPr txBox="1">
            <a:spLocks/>
          </p:cNvSpPr>
          <p:nvPr/>
        </p:nvSpPr>
        <p:spPr>
          <a:xfrm>
            <a:off x="1053852" y="6086573"/>
            <a:ext cx="10297144" cy="647899"/>
          </a:xfrm>
          <a:prstGeom prst="rect">
            <a:avLst/>
          </a:prstGeom>
        </p:spPr>
        <p:txBody>
          <a:bodyPr vert="horz" lIns="121899" tIns="60949" rIns="121899" bIns="60949" rtlCol="0" anchor="b">
            <a:no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8000" dirty="0"/>
              <a:t>FIM</a:t>
            </a:r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3189471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nologia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9533214_TF02787990" id="{E2EB6F66-559D-4935-B0FE-CC1100470BBA}" vid="{EDFAEEEF-A820-4D8D-8A70-9CA9D460C139}"/>
    </a:ext>
  </a:extLst>
</a:theme>
</file>

<file path=ppt/theme/theme2.xml><?xml version="1.0" encoding="utf-8"?>
<a:theme xmlns:a="http://schemas.openxmlformats.org/drawingml/2006/main" name="Tema do Offic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Apresentação com linhas de circuito triplas (widescreen)</Template>
  <TotalTime>804</TotalTime>
  <Words>1892</Words>
  <Application>Microsoft Office PowerPoint</Application>
  <PresentationFormat>Personalizar</PresentationFormat>
  <Paragraphs>151</Paragraphs>
  <Slides>35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35</vt:i4>
      </vt:variant>
    </vt:vector>
  </HeadingPairs>
  <TitlesOfParts>
    <vt:vector size="38" baseType="lpstr">
      <vt:lpstr>Arial</vt:lpstr>
      <vt:lpstr>Calibri</vt:lpstr>
      <vt:lpstr>Tecnologia 16x9</vt:lpstr>
      <vt:lpstr>Clube de Algoritmos  Uma análise de vários datasets com SVM e Random Forest, com Feature Engineering usando Kmeans</vt:lpstr>
      <vt:lpstr>Objetivo do trabalho e metodologia empregada</vt:lpstr>
      <vt:lpstr>Íris Dataset - Clusterização</vt:lpstr>
      <vt:lpstr>Íris Dataset – Resultado do GridSearch (Scoring= f1_macro)</vt:lpstr>
      <vt:lpstr>Íris Dataset – SVM: Classification report</vt:lpstr>
      <vt:lpstr>Íris Dataset – SVM: Matriz de Confusão</vt:lpstr>
      <vt:lpstr>Íris Dataset – Random Forest: Classification report</vt:lpstr>
      <vt:lpstr>Íris Dataset – Random Forest: Matriz de Confusão</vt:lpstr>
      <vt:lpstr>Íris Dataset – SVM versus Random Forest</vt:lpstr>
      <vt:lpstr>Digits Dataset - Clusterização</vt:lpstr>
      <vt:lpstr>Digits Dataset – Resultado do GridSearch (Scoring= f1_macro)</vt:lpstr>
      <vt:lpstr>Digits Dataset – SVM: Classification report</vt:lpstr>
      <vt:lpstr>Digits Dataset – SVM: Matriz de Confusão</vt:lpstr>
      <vt:lpstr>Digits Dataset – Random Forest: Classification report</vt:lpstr>
      <vt:lpstr>Digits Dataset – Random Forest: Matriz de Confusão</vt:lpstr>
      <vt:lpstr>Digits Dataset – SVM versus Random Forest</vt:lpstr>
      <vt:lpstr>Wine Dataset - Clusterização</vt:lpstr>
      <vt:lpstr>Wine Dataset – Resultado do GridSearch (Scoring= f1_macro)</vt:lpstr>
      <vt:lpstr>Wine Dataset – SVM: Classification report</vt:lpstr>
      <vt:lpstr>Wine Dataset – SVM: Matriz de Confusão</vt:lpstr>
      <vt:lpstr>Wine Dataset – Random Forest: Classification report</vt:lpstr>
      <vt:lpstr>Wine Dataset – Random Forest: Matriz de Confusão</vt:lpstr>
      <vt:lpstr>Wine Dataset – SVM versus Random Forest</vt:lpstr>
      <vt:lpstr>Breast Cancer Dataset - Clusterização</vt:lpstr>
      <vt:lpstr>Breast Cancer Dataset – Resultado do GridSearch (Scoring= f1_macro)</vt:lpstr>
      <vt:lpstr>Breast Cancer Dataset – SVM: Classification report</vt:lpstr>
      <vt:lpstr>Breast Cancer Dataset – SVM: Matriz de Confusão</vt:lpstr>
      <vt:lpstr>Breast Cancer Dataset – SVM: Curva ROC</vt:lpstr>
      <vt:lpstr>Breast Cancer Dataset – SVM: Precision-Recall</vt:lpstr>
      <vt:lpstr>Breast Cancer Dataset – Random Forest: Classification report</vt:lpstr>
      <vt:lpstr>Breast Cancer Dataset – Random Forest: Matriz de Confusão</vt:lpstr>
      <vt:lpstr>Breast Cancer Dataset – Random Forest: Curva ROC</vt:lpstr>
      <vt:lpstr>Breast Cancer Dataset – Random Forest: Precision-Recall</vt:lpstr>
      <vt:lpstr>Breast Cancer Dataset – SVM versus Random Forest</vt:lpstr>
      <vt:lpstr>CONSIDERAÇÕES FINAIS SOBRE O TRABALHO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Rodrigo Vianna</dc:creator>
  <cp:lastModifiedBy>Rodrigo Vianna</cp:lastModifiedBy>
  <cp:revision>4</cp:revision>
  <dcterms:created xsi:type="dcterms:W3CDTF">2024-11-07T20:00:48Z</dcterms:created>
  <dcterms:modified xsi:type="dcterms:W3CDTF">2025-12-04T15:49:20Z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